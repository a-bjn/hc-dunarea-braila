
<file path=[Content_Types].xml><?xml version="1.0" encoding="utf-8"?>
<Types xmlns="http://schemas.openxmlformats.org/package/2006/content-types">
  <Default Extension="xml" ContentType="application/vnd.openxmlformats-package.core-properties+xml"/>
  <Default Extension="jpeg" ContentType="image/jpeg"/>
  <Default Extension="jpg" ContentType="image/jpeg"/>
  <Default Extension="rels" ContentType="application/vnd.openxmlformats-package.relationships+xml"/>
  <Override PartName="/ppt/presentation.xml" ContentType="application/vnd.openxmlformats-officedocument.presentationml.presentation.main+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package/2006/relationships/metadata/core-properties" Target="/docProps/core.xml" Id="rId3" /><Relationship Type="http://schemas.openxmlformats.org/package/2006/relationships/metadata/thumbnail" Target="/docProps/thumbnail.jpeg" Id="rId2" /><Relationship Type="http://schemas.openxmlformats.org/officeDocument/2006/relationships/officeDocument" Target="/ppt/presentation.xml" Id="rId1" /><Relationship Type="http://schemas.openxmlformats.org/officeDocument/2006/relationships/extended-properties" Target="/docProps/app.xml" Id="rId4"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79"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864" y="66"/>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Id3" /><Relationship Type="http://schemas.openxmlformats.org/officeDocument/2006/relationships/tableStyles" Target="/ppt/tableStyles.xml" Id="rId7" /><Relationship Type="http://schemas.openxmlformats.org/officeDocument/2006/relationships/slide" Target="/ppt/slides/slide1.xml" Id="rId2" /><Relationship Type="http://schemas.openxmlformats.org/officeDocument/2006/relationships/slideMaster" Target="/ppt/slideMasters/slideMaster1.xml" Id="rId1" /><Relationship Type="http://schemas.openxmlformats.org/officeDocument/2006/relationships/theme" Target="/ppt/theme/theme1.xml" Id="rId6" /><Relationship Type="http://schemas.openxmlformats.org/officeDocument/2006/relationships/viewProps" Target="/ppt/viewProps.xml" Id="rId5" /><Relationship Type="http://schemas.openxmlformats.org/officeDocument/2006/relationships/presProps" Target="/ppt/presProps.xml" Id="rId4" /></Relationships>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3CD623-B606-4A1E-98FF-0050455DD7D9}"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7C8EBB-BE82-476E-B837-7A61F831AD75}" type="slidenum">
              <a:rPr lang="en-US" smtClean="0"/>
              <a:t>‹#›</a:t>
            </a:fld>
            <a:endParaRPr lang="en-US"/>
          </a:p>
        </p:txBody>
      </p:sp>
    </p:spTree>
    <p:extLst>
      <p:ext uri="{BB962C8B-B14F-4D97-AF65-F5344CB8AC3E}">
        <p14:creationId xmlns:p14="http://schemas.microsoft.com/office/powerpoint/2010/main" val="392540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1.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72a9e3e5a1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g372a9e3e5a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40"/>
        <p:cNvGrpSpPr/>
        <p:nvPr/>
      </p:nvGrpSpPr>
      <p:grpSpPr>
        <a:xfrm>
          <a:off x="0" y="0"/>
          <a:ext cx="0" cy="0"/>
          <a:chOff x="0" y="0"/>
          <a:chExt cx="0" cy="0"/>
        </a:xfrm>
      </p:grpSpPr>
    </p:spTree>
    <p:extLst>
      <p:ext uri="{BB962C8B-B14F-4D97-AF65-F5344CB8AC3E}">
        <p14:creationId xmlns:p14="http://schemas.microsoft.com/office/powerpoint/2010/main" val="1636255349"/>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theme/theme1.xml" Id="rId13" /><Relationship Type="http://schemas.openxmlformats.org/officeDocument/2006/relationships/slideLayout" Target="/ppt/slideLayouts/slideLayout12.xml" Id="rId12" /></Relationships>
</file>

<file path=ppt/slideMasters/slideMaster1.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25CDC8-E613-4D75-961B-52DD9D2AF3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462B41-0723-4107-9CF8-F0E512FD9F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9082F4-40B4-48F0-9A30-9FA928EDAB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53E4A3-DE29-4BD0-BCFB-BAE4BD074DCE}" type="datetimeFigureOut">
              <a:rPr lang="en-US" smtClean="0"/>
              <a:t>11/4/2025</a:t>
            </a:fld>
            <a:endParaRPr lang="en-US"/>
          </a:p>
        </p:txBody>
      </p:sp>
      <p:sp>
        <p:nvSpPr>
          <p:cNvPr id="5" name="Footer Placeholder 4">
            <a:extLst>
              <a:ext uri="{FF2B5EF4-FFF2-40B4-BE49-F238E27FC236}">
                <a16:creationId xmlns:a16="http://schemas.microsoft.com/office/drawing/2014/main" id="{6E2F1935-0410-45FF-96CF-0FAF7FD687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ECA7D8-8249-4CBC-BECA-196D3CF766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5677B8-D7B5-44A3-9D88-99C4D4DC3A54}" type="slidenum">
              <a:rPr lang="en-US" smtClean="0"/>
              <a:t>‹#›</a:t>
            </a:fld>
            <a:endParaRPr lang="en-US"/>
          </a:p>
        </p:txBody>
      </p:sp>
    </p:spTree>
    <p:extLst>
      <p:ext uri="{BB962C8B-B14F-4D97-AF65-F5344CB8AC3E}">
        <p14:creationId xmlns:p14="http://schemas.microsoft.com/office/powerpoint/2010/main" val="1614973213"/>
      </p:ext>
    </p:extLst>
  </p:cSld>
  <p:clrMap bg1="lt1" tx1="dk1" bg2="lt2" tx2="dk2" accent1="accent1" accent2="accent2" accent3="accent3" accent4="accent4" accent5="accent5" accent6="accent6" hlink="hlink" folHlink="folHlink"/>
  <p:sldLayoutIdLst>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ppt/media/image1.jpg" Id="rId3" /><Relationship Type="http://schemas.openxmlformats.org/officeDocument/2006/relationships/notesSlide" Target="/ppt/notesSlides/notesSlide1.xml" Id="rId2" /><Relationship Type="http://schemas.openxmlformats.org/officeDocument/2006/relationships/slideLayout" Target="/ppt/slideLayouts/slideLayout12.xml" Id="rId1" /><Relationship Type="http://schemas.openxmlformats.org/officeDocument/2006/relationships/image" Target="/ppt/media/image3.jpeg" Id="rId5" /><Relationship Type="http://schemas.openxmlformats.org/officeDocument/2006/relationships/image" Target="/ppt/media/image2.jpg" Id="rId4"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g372a9e3e5a1_0_0"/>
          <p:cNvSpPr/>
          <p:nvPr/>
        </p:nvSpPr>
        <p:spPr>
          <a:xfrm>
            <a:off x="5091800" y="-1"/>
            <a:ext cx="6096000" cy="6858000"/>
          </a:xfrm>
          <a:prstGeom prst="parallelogram">
            <a:avLst>
              <a:gd name="adj" fmla="val 49883"/>
            </a:avLst>
          </a:prstGeom>
          <a:solidFill>
            <a:srgbClr val="254480">
              <a:alpha val="10000"/>
            </a:srgbClr>
          </a:solidFill>
          <a:ln>
            <a:noFill/>
          </a:ln>
        </p:spPr>
        <p:txBody>
          <a:bodyPr spcFirstLastPara="1" wrap="square" lIns="91433" tIns="45700" rIns="91433" bIns="45700" anchor="ctr" anchorCtr="0">
            <a:noAutofit/>
          </a:bodyPr>
          <a:lstStyle/>
          <a:p>
            <a:pPr algn="ctr"/>
            <a:endParaRPr>
              <a:solidFill>
                <a:schemeClr val="lt1"/>
              </a:solidFill>
              <a:latin typeface="Arial"/>
              <a:ea typeface="Arial"/>
              <a:cs typeface="Arial"/>
              <a:sym typeface="Arial"/>
            </a:endParaRPr>
          </a:p>
        </p:txBody>
      </p:sp>
      <p:sp>
        <p:nvSpPr>
          <p:cNvPr id="420" name="Google Shape;420;g372a9e3e5a1_0_0"/>
          <p:cNvSpPr/>
          <p:nvPr/>
        </p:nvSpPr>
        <p:spPr>
          <a:xfrm>
            <a:off x="5916900" y="0"/>
            <a:ext cx="6275200" cy="6858000"/>
          </a:xfrm>
          <a:prstGeom prst="parallelogram">
            <a:avLst>
              <a:gd name="adj" fmla="val 49883"/>
            </a:avLst>
          </a:prstGeom>
          <a:solidFill>
            <a:srgbClr val="254480">
              <a:alpha val="10000"/>
            </a:srgbClr>
          </a:solidFill>
          <a:ln>
            <a:noFill/>
          </a:ln>
        </p:spPr>
        <p:txBody>
          <a:bodyPr spcFirstLastPara="1" wrap="square" lIns="91433" tIns="45700" rIns="91433" bIns="45700" anchor="ctr" anchorCtr="0">
            <a:noAutofit/>
          </a:bodyPr>
          <a:lstStyle/>
          <a:p>
            <a:pPr algn="ctr"/>
            <a:endParaRPr>
              <a:solidFill>
                <a:schemeClr val="lt1"/>
              </a:solidFill>
              <a:latin typeface="Arial"/>
              <a:ea typeface="Arial"/>
              <a:cs typeface="Arial"/>
              <a:sym typeface="Arial"/>
            </a:endParaRPr>
          </a:p>
        </p:txBody>
      </p:sp>
      <p:sp>
        <p:nvSpPr>
          <p:cNvPr id="421" name="Google Shape;421;g372a9e3e5a1_0_0"/>
          <p:cNvSpPr txBox="1"/>
          <p:nvPr/>
        </p:nvSpPr>
        <p:spPr>
          <a:xfrm>
            <a:off x="385604" y="544375"/>
            <a:ext cx="6257600" cy="666745"/>
          </a:xfrm>
          <a:prstGeom prst="rect">
            <a:avLst/>
          </a:prstGeom>
          <a:noFill/>
          <a:ln>
            <a:noFill/>
          </a:ln>
        </p:spPr>
        <p:txBody>
          <a:bodyPr spcFirstLastPara="1" wrap="square" lIns="91433" tIns="45700" rIns="91433" bIns="45700" anchor="t" anchorCtr="0">
            <a:spAutoFit/>
          </a:bodyPr>
          <a:lstStyle/>
          <a:p>
            <a:r>
              <a:rPr lang="en-GB" sz="3733" dirty="0">
                <a:solidFill>
                  <a:srgbClr val="2E3A90"/>
                </a:solidFill>
                <a:latin typeface="Montserrat ExtraBold" panose="00000900000000000000" pitchFamily="50" charset="0"/>
                <a:ea typeface="Bebas Neue"/>
                <a:cs typeface="Bebas Neue"/>
                <a:sym typeface="Bebas Neue"/>
              </a:rPr>
              <a:t>FOOD &amp; </a:t>
            </a:r>
            <a:r>
              <a:rPr lang="ro-RO" sz="3733" dirty="0">
                <a:solidFill>
                  <a:srgbClr val="2E3A90"/>
                </a:solidFill>
                <a:latin typeface="Montserrat ExtraBold" panose="00000900000000000000" pitchFamily="50" charset="0"/>
                <a:ea typeface="Bebas Neue"/>
                <a:cs typeface="Bebas Neue"/>
                <a:sym typeface="Bebas Neue"/>
              </a:rPr>
              <a:t>FAN</a:t>
            </a:r>
            <a:r>
              <a:rPr lang="en-GB" sz="3733" dirty="0">
                <a:solidFill>
                  <a:srgbClr val="2E3A90"/>
                </a:solidFill>
                <a:latin typeface="Montserrat ExtraBold" panose="00000900000000000000" pitchFamily="50" charset="0"/>
                <a:ea typeface="Bebas Neue"/>
                <a:cs typeface="Bebas Neue"/>
                <a:sym typeface="Bebas Neue"/>
              </a:rPr>
              <a:t> ZONE</a:t>
            </a:r>
          </a:p>
        </p:txBody>
      </p:sp>
      <p:sp>
        <p:nvSpPr>
          <p:cNvPr id="422" name="Google Shape;422;g372a9e3e5a1_0_0"/>
          <p:cNvSpPr txBox="1"/>
          <p:nvPr/>
        </p:nvSpPr>
        <p:spPr>
          <a:xfrm>
            <a:off x="385604" y="1278654"/>
            <a:ext cx="6307723" cy="3160825"/>
          </a:xfrm>
          <a:prstGeom prst="rect">
            <a:avLst/>
          </a:prstGeom>
          <a:noFill/>
          <a:ln>
            <a:noFill/>
          </a:ln>
        </p:spPr>
        <p:txBody>
          <a:bodyPr spcFirstLastPara="1" wrap="square" lIns="91433" tIns="45700" rIns="91433" bIns="45700" anchor="t" anchorCtr="0">
            <a:spAutoFit/>
          </a:bodyPr>
          <a:lstStyle/>
          <a:p>
            <a:pPr>
              <a:lnSpc>
                <a:spcPct val="115000"/>
              </a:lnSpc>
              <a:spcBef>
                <a:spcPts val="1200"/>
              </a:spcBef>
              <a:buClr>
                <a:schemeClr val="dk1"/>
              </a:buClr>
              <a:buSzPts val="825"/>
            </a:pPr>
            <a:r>
              <a:rPr lang="ro-RO" sz="1200" b="1" dirty="0">
                <a:solidFill>
                  <a:schemeClr val="tx1">
                    <a:lumMod val="75000"/>
                    <a:lumOff val="25000"/>
                  </a:schemeClr>
                </a:solidFill>
                <a:ea typeface="Roboto"/>
                <a:cs typeface="Roboto"/>
                <a:sym typeface="Roboto"/>
              </a:rPr>
              <a:t>Zona Food </a:t>
            </a:r>
            <a:r>
              <a:rPr lang="ro-RO" sz="1200" dirty="0">
                <a:solidFill>
                  <a:schemeClr val="tx1">
                    <a:lumMod val="75000"/>
                    <a:lumOff val="25000"/>
                  </a:schemeClr>
                </a:solidFill>
                <a:ea typeface="Roboto"/>
                <a:cs typeface="Roboto"/>
                <a:sym typeface="Roboto"/>
              </a:rPr>
              <a:t>este un spațiu modern și prietenos, unde suporterii, echipa și partenerii se întâlnesc pentru socializare și relaxare în timpul meciurilor și evenimentelor. Este un spațiu de socializare, cu mese și zone de servire, accesibil pe durata meciurilor și evenimentelor clubului, cu două monitoare unde se expun permanent </a:t>
            </a:r>
            <a:r>
              <a:rPr lang="ro-RO" sz="1200" b="1" dirty="0">
                <a:solidFill>
                  <a:schemeClr val="tx1">
                    <a:lumMod val="75000"/>
                    <a:lumOff val="25000"/>
                  </a:schemeClr>
                </a:solidFill>
                <a:ea typeface="Roboto"/>
                <a:cs typeface="Roboto"/>
                <a:sym typeface="Roboto"/>
              </a:rPr>
              <a:t>partenerii clubului. </a:t>
            </a:r>
            <a:r>
              <a:rPr lang="ro-RO" sz="1200" dirty="0">
                <a:solidFill>
                  <a:schemeClr val="tx1">
                    <a:lumMod val="75000"/>
                    <a:lumOff val="25000"/>
                  </a:schemeClr>
                </a:solidFill>
                <a:ea typeface="Roboto"/>
                <a:cs typeface="Roboto"/>
                <a:sym typeface="Roboto"/>
              </a:rPr>
              <a:t>Este cadrul potrivit pentru interacțiune între suporteri, echipă și sponsori.</a:t>
            </a:r>
          </a:p>
          <a:p>
            <a:pPr>
              <a:lnSpc>
                <a:spcPct val="115000"/>
              </a:lnSpc>
              <a:spcBef>
                <a:spcPts val="1200"/>
              </a:spcBef>
              <a:buClr>
                <a:schemeClr val="dk1"/>
              </a:buClr>
              <a:buSzPts val="825"/>
            </a:pPr>
            <a:r>
              <a:rPr lang="en-GB" sz="1200" dirty="0">
                <a:solidFill>
                  <a:schemeClr val="tx1">
                    <a:lumMod val="75000"/>
                    <a:lumOff val="25000"/>
                  </a:schemeClr>
                </a:solidFill>
                <a:ea typeface="Roboto"/>
                <a:cs typeface="Roboto"/>
                <a:sym typeface="Roboto"/>
              </a:rPr>
              <a:t>Sala </a:t>
            </a:r>
            <a:r>
              <a:rPr lang="en-GB" sz="1200" dirty="0" err="1">
                <a:solidFill>
                  <a:schemeClr val="tx1">
                    <a:lumMod val="75000"/>
                    <a:lumOff val="25000"/>
                  </a:schemeClr>
                </a:solidFill>
                <a:ea typeface="Roboto"/>
                <a:cs typeface="Roboto"/>
                <a:sym typeface="Roboto"/>
              </a:rPr>
              <a:t>Polivalentă</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Danubius</a:t>
            </a:r>
            <a:r>
              <a:rPr lang="en-GB" sz="1200" dirty="0">
                <a:solidFill>
                  <a:schemeClr val="tx1">
                    <a:lumMod val="75000"/>
                    <a:lumOff val="25000"/>
                  </a:schemeClr>
                </a:solidFill>
                <a:ea typeface="Roboto"/>
                <a:cs typeface="Roboto"/>
                <a:sym typeface="Roboto"/>
              </a:rPr>
              <a:t> (capacitate ~2200 </a:t>
            </a:r>
            <a:r>
              <a:rPr lang="en-GB" sz="1200" dirty="0" err="1">
                <a:solidFill>
                  <a:schemeClr val="tx1">
                    <a:lumMod val="75000"/>
                    <a:lumOff val="25000"/>
                  </a:schemeClr>
                </a:solidFill>
                <a:ea typeface="Roboto"/>
                <a:cs typeface="Roboto"/>
                <a:sym typeface="Roboto"/>
              </a:rPr>
              <a:t>locuri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este</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parte</a:t>
            </a:r>
            <a:r>
              <a:rPr lang="en-GB" sz="1200" dirty="0">
                <a:solidFill>
                  <a:schemeClr val="tx1">
                    <a:lumMod val="75000"/>
                    <a:lumOff val="25000"/>
                  </a:schemeClr>
                </a:solidFill>
                <a:ea typeface="Roboto"/>
                <a:cs typeface="Roboto"/>
                <a:sym typeface="Roboto"/>
              </a:rPr>
              <a:t> a </a:t>
            </a:r>
            <a:r>
              <a:rPr lang="en-GB" sz="1200" dirty="0" err="1">
                <a:solidFill>
                  <a:schemeClr val="tx1">
                    <a:lumMod val="75000"/>
                    <a:lumOff val="25000"/>
                  </a:schemeClr>
                </a:solidFill>
                <a:ea typeface="Roboto"/>
                <a:cs typeface="Roboto"/>
                <a:sym typeface="Roboto"/>
              </a:rPr>
              <a:t>aceluiași</a:t>
            </a:r>
            <a:r>
              <a:rPr lang="en-GB" sz="1200" dirty="0">
                <a:solidFill>
                  <a:schemeClr val="tx1">
                    <a:lumMod val="75000"/>
                    <a:lumOff val="25000"/>
                  </a:schemeClr>
                </a:solidFill>
                <a:ea typeface="Roboto"/>
                <a:cs typeface="Roboto"/>
                <a:sym typeface="Roboto"/>
              </a:rPr>
              <a:t> complex </a:t>
            </a:r>
            <a:r>
              <a:rPr lang="en-GB" sz="1200" dirty="0" err="1">
                <a:solidFill>
                  <a:schemeClr val="tx1">
                    <a:lumMod val="75000"/>
                    <a:lumOff val="25000"/>
                  </a:schemeClr>
                </a:solidFill>
                <a:ea typeface="Roboto"/>
                <a:cs typeface="Roboto"/>
                <a:sym typeface="Roboto"/>
              </a:rPr>
              <a:t>și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oferă</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facilități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vestiare</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cabină</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medicală</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sală</a:t>
            </a:r>
            <a:r>
              <a:rPr lang="en-GB" sz="1200" dirty="0">
                <a:solidFill>
                  <a:schemeClr val="tx1">
                    <a:lumMod val="75000"/>
                    <a:lumOff val="25000"/>
                  </a:schemeClr>
                </a:solidFill>
                <a:ea typeface="Roboto"/>
                <a:cs typeface="Roboto"/>
                <a:sym typeface="Roboto"/>
              </a:rPr>
              <a:t> de </a:t>
            </a:r>
            <a:r>
              <a:rPr lang="en-GB" sz="1200" dirty="0" err="1">
                <a:solidFill>
                  <a:schemeClr val="tx1">
                    <a:lumMod val="75000"/>
                    <a:lumOff val="25000"/>
                  </a:schemeClr>
                </a:solidFill>
                <a:ea typeface="Roboto"/>
                <a:cs typeface="Roboto"/>
                <a:sym typeface="Roboto"/>
              </a:rPr>
              <a:t>conferințe</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spații</a:t>
            </a:r>
            <a:r>
              <a:rPr lang="en-GB" sz="1200" dirty="0">
                <a:solidFill>
                  <a:schemeClr val="tx1">
                    <a:lumMod val="75000"/>
                    <a:lumOff val="25000"/>
                  </a:schemeClr>
                </a:solidFill>
                <a:ea typeface="Roboto"/>
                <a:cs typeface="Roboto"/>
                <a:sym typeface="Roboto"/>
              </a:rPr>
              <a:t> de protocol </a:t>
            </a:r>
            <a:r>
              <a:rPr lang="en-GB" sz="1200" dirty="0" err="1">
                <a:solidFill>
                  <a:schemeClr val="tx1">
                    <a:lumMod val="75000"/>
                    <a:lumOff val="25000"/>
                  </a:schemeClr>
                </a:solidFill>
                <a:ea typeface="Roboto"/>
                <a:cs typeface="Roboto"/>
                <a:sym typeface="Roboto"/>
              </a:rPr>
              <a:t>și</a:t>
            </a:r>
            <a:r>
              <a:rPr lang="en-GB" sz="1200" dirty="0">
                <a:solidFill>
                  <a:schemeClr val="tx1">
                    <a:lumMod val="75000"/>
                    <a:lumOff val="25000"/>
                  </a:schemeClr>
                </a:solidFill>
                <a:ea typeface="Roboto"/>
                <a:cs typeface="Roboto"/>
                <a:sym typeface="Roboto"/>
              </a:rPr>
              <a:t> zone de </a:t>
            </a:r>
            <a:r>
              <a:rPr lang="en-GB" sz="1200" dirty="0" err="1">
                <a:solidFill>
                  <a:schemeClr val="tx1">
                    <a:lumMod val="75000"/>
                    <a:lumOff val="25000"/>
                  </a:schemeClr>
                </a:solidFill>
                <a:ea typeface="Roboto"/>
                <a:cs typeface="Roboto"/>
                <a:sym typeface="Roboto"/>
              </a:rPr>
              <a:t>recreer</a:t>
            </a:r>
            <a:r>
              <a:rPr lang="ro-RO" sz="1200" dirty="0">
                <a:solidFill>
                  <a:schemeClr val="tx1">
                    <a:lumMod val="75000"/>
                    <a:lumOff val="25000"/>
                  </a:schemeClr>
                </a:solidFill>
                <a:ea typeface="Roboto"/>
                <a:cs typeface="Roboto"/>
                <a:sym typeface="Roboto"/>
              </a:rPr>
              <a:t>e. </a:t>
            </a:r>
            <a:r>
              <a:rPr lang="en-GB" sz="1200" dirty="0" err="1">
                <a:solidFill>
                  <a:schemeClr val="tx1">
                    <a:lumMod val="75000"/>
                    <a:lumOff val="25000"/>
                  </a:schemeClr>
                </a:solidFill>
                <a:ea typeface="Roboto"/>
                <a:cs typeface="Roboto"/>
                <a:sym typeface="Roboto"/>
              </a:rPr>
              <a:t>Clubul</a:t>
            </a:r>
            <a:r>
              <a:rPr lang="en-GB" sz="1200" dirty="0">
                <a:solidFill>
                  <a:schemeClr val="tx1">
                    <a:lumMod val="75000"/>
                    <a:lumOff val="25000"/>
                  </a:schemeClr>
                </a:solidFill>
                <a:ea typeface="Roboto"/>
                <a:cs typeface="Roboto"/>
                <a:sym typeface="Roboto"/>
              </a:rPr>
              <a:t> are </a:t>
            </a:r>
            <a:r>
              <a:rPr lang="ro-RO" sz="1200" dirty="0">
                <a:solidFill>
                  <a:schemeClr val="tx1">
                    <a:lumMod val="75000"/>
                    <a:lumOff val="25000"/>
                  </a:schemeClr>
                </a:solidFill>
                <a:ea typeface="Roboto"/>
                <a:cs typeface="Roboto"/>
                <a:sym typeface="Roboto"/>
              </a:rPr>
              <a:t>și </a:t>
            </a:r>
            <a:r>
              <a:rPr lang="en-GB" sz="1200" dirty="0">
                <a:solidFill>
                  <a:schemeClr val="tx1">
                    <a:lumMod val="75000"/>
                    <a:lumOff val="25000"/>
                  </a:schemeClr>
                </a:solidFill>
                <a:ea typeface="Roboto"/>
                <a:cs typeface="Roboto"/>
                <a:sym typeface="Roboto"/>
              </a:rPr>
              <a:t>un </a:t>
            </a:r>
            <a:r>
              <a:rPr lang="en-GB" sz="1200" b="1" dirty="0" err="1">
                <a:solidFill>
                  <a:schemeClr val="tx1">
                    <a:lumMod val="75000"/>
                    <a:lumOff val="25000"/>
                  </a:schemeClr>
                </a:solidFill>
                <a:ea typeface="Roboto"/>
                <a:cs typeface="Roboto"/>
                <a:sym typeface="Roboto"/>
              </a:rPr>
              <a:t>magazin</a:t>
            </a:r>
            <a:r>
              <a:rPr lang="ro-RO" sz="1200" b="1" dirty="0">
                <a:solidFill>
                  <a:schemeClr val="tx1">
                    <a:lumMod val="75000"/>
                    <a:lumOff val="25000"/>
                  </a:schemeClr>
                </a:solidFill>
                <a:ea typeface="Roboto"/>
                <a:cs typeface="Roboto"/>
                <a:sym typeface="Roboto"/>
              </a:rPr>
              <a:t> </a:t>
            </a:r>
            <a:r>
              <a:rPr lang="en-GB" sz="1200" b="1" dirty="0" err="1">
                <a:solidFill>
                  <a:schemeClr val="tx1">
                    <a:lumMod val="75000"/>
                    <a:lumOff val="25000"/>
                  </a:schemeClr>
                </a:solidFill>
                <a:ea typeface="Roboto"/>
                <a:cs typeface="Roboto"/>
                <a:sym typeface="Roboto"/>
              </a:rPr>
              <a:t>oficial</a:t>
            </a:r>
            <a:r>
              <a:rPr lang="ro-RO" sz="1200" b="1" dirty="0">
                <a:solidFill>
                  <a:schemeClr val="tx1">
                    <a:lumMod val="75000"/>
                    <a:lumOff val="25000"/>
                  </a:schemeClr>
                </a:solidFill>
                <a:ea typeface="Roboto"/>
                <a:cs typeface="Roboto"/>
                <a:sym typeface="Roboto"/>
              </a:rPr>
              <a:t> atât fizic, dar și</a:t>
            </a:r>
            <a:r>
              <a:rPr lang="en-GB" sz="1200" b="1" dirty="0">
                <a:solidFill>
                  <a:schemeClr val="tx1">
                    <a:lumMod val="75000"/>
                    <a:lumOff val="25000"/>
                  </a:schemeClr>
                </a:solidFill>
                <a:ea typeface="Roboto"/>
                <a:cs typeface="Roboto"/>
                <a:sym typeface="Roboto"/>
              </a:rPr>
              <a:t> online </a:t>
            </a:r>
            <a:r>
              <a:rPr lang="en-GB" sz="1200" dirty="0" err="1">
                <a:solidFill>
                  <a:schemeClr val="tx1">
                    <a:lumMod val="75000"/>
                    <a:lumOff val="25000"/>
                  </a:schemeClr>
                </a:solidFill>
                <a:ea typeface="Roboto"/>
                <a:cs typeface="Roboto"/>
                <a:sym typeface="Roboto"/>
              </a:rPr>
              <a:t>dedicat</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suporterilor</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lansat</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în</a:t>
            </a:r>
            <a:r>
              <a:rPr lang="en-GB" sz="1200" dirty="0">
                <a:solidFill>
                  <a:schemeClr val="tx1">
                    <a:lumMod val="75000"/>
                    <a:lumOff val="25000"/>
                  </a:schemeClr>
                </a:solidFill>
                <a:ea typeface="Roboto"/>
                <a:cs typeface="Roboto"/>
                <a:sym typeface="Roboto"/>
              </a:rPr>
              <a:t> 2020, </a:t>
            </a:r>
            <a:r>
              <a:rPr lang="en-GB" sz="1200" dirty="0" err="1">
                <a:solidFill>
                  <a:schemeClr val="tx1">
                    <a:lumMod val="75000"/>
                    <a:lumOff val="25000"/>
                  </a:schemeClr>
                </a:solidFill>
                <a:ea typeface="Roboto"/>
                <a:cs typeface="Roboto"/>
                <a:sym typeface="Roboto"/>
              </a:rPr>
              <a:t>unde</a:t>
            </a:r>
            <a:r>
              <a:rPr lang="en-GB" sz="1200" dirty="0">
                <a:solidFill>
                  <a:schemeClr val="tx1">
                    <a:lumMod val="75000"/>
                    <a:lumOff val="25000"/>
                  </a:schemeClr>
                </a:solidFill>
                <a:ea typeface="Roboto"/>
                <a:cs typeface="Roboto"/>
                <a:sym typeface="Roboto"/>
              </a:rPr>
              <a:t> sunt </a:t>
            </a:r>
            <a:r>
              <a:rPr lang="en-GB" sz="1200" dirty="0" err="1">
                <a:solidFill>
                  <a:schemeClr val="tx1">
                    <a:lumMod val="75000"/>
                    <a:lumOff val="25000"/>
                  </a:schemeClr>
                </a:solidFill>
                <a:ea typeface="Roboto"/>
                <a:cs typeface="Roboto"/>
                <a:sym typeface="Roboto"/>
              </a:rPr>
              <a:t>disponibile</a:t>
            </a:r>
            <a:r>
              <a:rPr lang="en-GB" sz="1200" dirty="0">
                <a:solidFill>
                  <a:schemeClr val="tx1">
                    <a:lumMod val="75000"/>
                    <a:lumOff val="25000"/>
                  </a:schemeClr>
                </a:solidFill>
                <a:ea typeface="Roboto"/>
                <a:cs typeface="Roboto"/>
                <a:sym typeface="Roboto"/>
              </a:rPr>
              <a:t> diverse </a:t>
            </a:r>
            <a:r>
              <a:rPr lang="en-GB" sz="1200" dirty="0" err="1">
                <a:solidFill>
                  <a:schemeClr val="tx1">
                    <a:lumMod val="75000"/>
                    <a:lumOff val="25000"/>
                  </a:schemeClr>
                </a:solidFill>
                <a:ea typeface="Roboto"/>
                <a:cs typeface="Roboto"/>
                <a:sym typeface="Roboto"/>
              </a:rPr>
              <a:t>produse</a:t>
            </a:r>
            <a:r>
              <a:rPr lang="en-GB" sz="1200" dirty="0">
                <a:solidFill>
                  <a:schemeClr val="tx1">
                    <a:lumMod val="75000"/>
                    <a:lumOff val="25000"/>
                  </a:schemeClr>
                </a:solidFill>
                <a:ea typeface="Roboto"/>
                <a:cs typeface="Roboto"/>
                <a:sym typeface="Roboto"/>
              </a:rPr>
              <a:t> cu </a:t>
            </a:r>
            <a:r>
              <a:rPr lang="en-GB" sz="1200" dirty="0" err="1">
                <a:solidFill>
                  <a:schemeClr val="tx1">
                    <a:lumMod val="75000"/>
                    <a:lumOff val="25000"/>
                  </a:schemeClr>
                </a:solidFill>
                <a:ea typeface="Roboto"/>
                <a:cs typeface="Roboto"/>
                <a:sym typeface="Roboto"/>
              </a:rPr>
              <a:t>însemnele</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echipei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Produs</a:t>
            </a:r>
            <a:r>
              <a:rPr lang="ro-RO" sz="1200" dirty="0">
                <a:solidFill>
                  <a:schemeClr val="tx1">
                    <a:lumMod val="75000"/>
                    <a:lumOff val="25000"/>
                  </a:schemeClr>
                </a:solidFill>
                <a:ea typeface="Roboto"/>
                <a:cs typeface="Roboto"/>
                <a:sym typeface="Roboto"/>
              </a:rPr>
              <a:t>ele </a:t>
            </a:r>
            <a:r>
              <a:rPr lang="en-GB" sz="1200" dirty="0">
                <a:solidFill>
                  <a:schemeClr val="tx1">
                    <a:lumMod val="75000"/>
                    <a:lumOff val="25000"/>
                  </a:schemeClr>
                </a:solidFill>
                <a:ea typeface="Roboto"/>
                <a:cs typeface="Roboto"/>
                <a:sym typeface="Roboto"/>
              </a:rPr>
              <a:t>sunt </a:t>
            </a:r>
            <a:r>
              <a:rPr lang="en-GB" sz="1200" dirty="0" err="1">
                <a:solidFill>
                  <a:schemeClr val="tx1">
                    <a:lumMod val="75000"/>
                    <a:lumOff val="25000"/>
                  </a:schemeClr>
                </a:solidFill>
                <a:ea typeface="Roboto"/>
                <a:cs typeface="Roboto"/>
                <a:sym typeface="Roboto"/>
              </a:rPr>
              <a:t>disponibile</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într</a:t>
            </a:r>
            <a:r>
              <a:rPr lang="en-GB" sz="1200" dirty="0">
                <a:solidFill>
                  <a:schemeClr val="tx1">
                    <a:lumMod val="75000"/>
                    <a:lumOff val="25000"/>
                  </a:schemeClr>
                </a:solidFill>
                <a:ea typeface="Roboto"/>
                <a:cs typeface="Roboto"/>
                <a:sym typeface="Roboto"/>
              </a:rPr>
              <a:t>-o </a:t>
            </a:r>
            <a:r>
              <a:rPr lang="en-GB" sz="1200" dirty="0" err="1">
                <a:solidFill>
                  <a:schemeClr val="tx1">
                    <a:lumMod val="75000"/>
                    <a:lumOff val="25000"/>
                  </a:schemeClr>
                </a:solidFill>
                <a:ea typeface="Roboto"/>
                <a:cs typeface="Roboto"/>
                <a:sym typeface="Roboto"/>
              </a:rPr>
              <a:t>gamă</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largă</a:t>
            </a:r>
            <a:r>
              <a:rPr lang="en-GB" sz="1200" dirty="0">
                <a:solidFill>
                  <a:schemeClr val="tx1">
                    <a:lumMod val="75000"/>
                    <a:lumOff val="25000"/>
                  </a:schemeClr>
                </a:solidFill>
                <a:ea typeface="Roboto"/>
                <a:cs typeface="Roboto"/>
                <a:sym typeface="Roboto"/>
              </a:rPr>
              <a:t> de </a:t>
            </a:r>
            <a:r>
              <a:rPr lang="en-GB" sz="1200" dirty="0" err="1">
                <a:solidFill>
                  <a:schemeClr val="tx1">
                    <a:lumMod val="75000"/>
                    <a:lumOff val="25000"/>
                  </a:schemeClr>
                </a:solidFill>
                <a:ea typeface="Roboto"/>
                <a:cs typeface="Roboto"/>
                <a:sym typeface="Roboto"/>
              </a:rPr>
              <a:t>prețuri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accesibile</a:t>
            </a:r>
            <a:r>
              <a:rPr lang="en-GB" sz="1200" dirty="0">
                <a:solidFill>
                  <a:schemeClr val="tx1">
                    <a:lumMod val="75000"/>
                    <a:lumOff val="25000"/>
                  </a:schemeClr>
                </a:solidFill>
                <a:ea typeface="Roboto"/>
                <a:cs typeface="Roboto"/>
                <a:sym typeface="Roboto"/>
              </a:rPr>
              <a:t>:</a:t>
            </a:r>
            <a:r>
              <a:rPr lang="ro-RO" sz="1200" dirty="0">
                <a:solidFill>
                  <a:schemeClr val="tx1">
                    <a:lumMod val="75000"/>
                    <a:lumOff val="25000"/>
                  </a:schemeClr>
                </a:solidFill>
                <a:ea typeface="Roboto"/>
                <a:cs typeface="Roboto"/>
                <a:sym typeface="Roboto"/>
              </a:rPr>
              <a:t> t</a:t>
            </a:r>
            <a:r>
              <a:rPr lang="en-GB" sz="1200" dirty="0" err="1">
                <a:solidFill>
                  <a:schemeClr val="tx1">
                    <a:lumMod val="75000"/>
                    <a:lumOff val="25000"/>
                  </a:schemeClr>
                </a:solidFill>
                <a:ea typeface="Roboto"/>
                <a:cs typeface="Roboto"/>
                <a:sym typeface="Roboto"/>
              </a:rPr>
              <a:t>ricouri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oficiale</a:t>
            </a:r>
            <a:r>
              <a:rPr lang="en-GB" sz="1200" dirty="0">
                <a:solidFill>
                  <a:schemeClr val="tx1">
                    <a:lumMod val="75000"/>
                    <a:lumOff val="25000"/>
                  </a:schemeClr>
                </a:solidFill>
                <a:ea typeface="Roboto"/>
                <a:cs typeface="Roboto"/>
                <a:sym typeface="Roboto"/>
              </a:rPr>
              <a:t> de </a:t>
            </a:r>
            <a:r>
              <a:rPr lang="en-GB" sz="1200" dirty="0" err="1">
                <a:solidFill>
                  <a:schemeClr val="tx1">
                    <a:lumMod val="75000"/>
                    <a:lumOff val="25000"/>
                  </a:schemeClr>
                </a:solidFill>
                <a:ea typeface="Roboto"/>
                <a:cs typeface="Roboto"/>
                <a:sym typeface="Roboto"/>
              </a:rPr>
              <a:t>joc</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și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replică</a:t>
            </a:r>
            <a:r>
              <a:rPr lang="en-GB" sz="1200" dirty="0">
                <a:solidFill>
                  <a:schemeClr val="tx1">
                    <a:lumMod val="75000"/>
                    <a:lumOff val="25000"/>
                  </a:schemeClr>
                </a:solidFill>
                <a:ea typeface="Roboto"/>
                <a:cs typeface="Roboto"/>
                <a:sym typeface="Roboto"/>
              </a:rPr>
              <a:t> (cu </a:t>
            </a:r>
            <a:r>
              <a:rPr lang="en-GB" sz="1200" dirty="0" err="1">
                <a:solidFill>
                  <a:schemeClr val="tx1">
                    <a:lumMod val="75000"/>
                    <a:lumOff val="25000"/>
                  </a:schemeClr>
                </a:solidFill>
                <a:ea typeface="Roboto"/>
                <a:cs typeface="Roboto"/>
                <a:sym typeface="Roboto"/>
              </a:rPr>
              <a:t>nume</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și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număr</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personalizat</a:t>
            </a:r>
            <a:r>
              <a:rPr lang="en-GB" sz="1200" dirty="0">
                <a:solidFill>
                  <a:schemeClr val="tx1">
                    <a:lumMod val="75000"/>
                    <a:lumOff val="25000"/>
                  </a:schemeClr>
                </a:solidFill>
                <a:ea typeface="Roboto"/>
                <a:cs typeface="Roboto"/>
                <a:sym typeface="Roboto"/>
              </a:rPr>
              <a:t>)</a:t>
            </a:r>
            <a:r>
              <a:rPr lang="ro-RO" sz="1200" dirty="0">
                <a:solidFill>
                  <a:schemeClr val="tx1">
                    <a:lumMod val="75000"/>
                    <a:lumOff val="25000"/>
                  </a:schemeClr>
                </a:solidFill>
                <a:ea typeface="Roboto"/>
                <a:cs typeface="Roboto"/>
                <a:sym typeface="Roboto"/>
              </a:rPr>
              <a:t>, m</a:t>
            </a:r>
            <a:r>
              <a:rPr lang="en-GB" sz="1200" dirty="0" err="1">
                <a:solidFill>
                  <a:schemeClr val="tx1">
                    <a:lumMod val="75000"/>
                    <a:lumOff val="25000"/>
                  </a:schemeClr>
                </a:solidFill>
                <a:ea typeface="Roboto"/>
                <a:cs typeface="Roboto"/>
                <a:sym typeface="Roboto"/>
              </a:rPr>
              <a:t>ingi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pentru</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copii</a:t>
            </a:r>
            <a:r>
              <a:rPr lang="ro-RO" sz="1200" dirty="0">
                <a:solidFill>
                  <a:schemeClr val="tx1">
                    <a:lumMod val="75000"/>
                    <a:lumOff val="25000"/>
                  </a:schemeClr>
                </a:solidFill>
                <a:ea typeface="Roboto"/>
                <a:cs typeface="Roboto"/>
                <a:sym typeface="Roboto"/>
              </a:rPr>
              <a:t>, c</a:t>
            </a:r>
            <a:r>
              <a:rPr lang="en-GB" sz="1200" dirty="0" err="1">
                <a:solidFill>
                  <a:schemeClr val="tx1">
                    <a:lumMod val="75000"/>
                    <a:lumOff val="25000"/>
                  </a:schemeClr>
                </a:solidFill>
                <a:ea typeface="Roboto"/>
                <a:cs typeface="Roboto"/>
                <a:sym typeface="Roboto"/>
              </a:rPr>
              <a:t>ăn</a:t>
            </a:r>
            <a:r>
              <a:rPr lang="ro-RO" sz="1200" dirty="0">
                <a:solidFill>
                  <a:schemeClr val="tx1">
                    <a:lumMod val="75000"/>
                    <a:lumOff val="25000"/>
                  </a:schemeClr>
                </a:solidFill>
                <a:ea typeface="Roboto"/>
                <a:cs typeface="Roboto"/>
                <a:sym typeface="Roboto"/>
              </a:rPr>
              <a:t>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brelocuri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pixuri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eșarfe</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odorizante</a:t>
            </a:r>
            <a:r>
              <a:rPr lang="en-GB" sz="1200" dirty="0">
                <a:solidFill>
                  <a:schemeClr val="tx1">
                    <a:lumMod val="75000"/>
                    <a:lumOff val="25000"/>
                  </a:schemeClr>
                </a:solidFill>
                <a:ea typeface="Roboto"/>
                <a:cs typeface="Roboto"/>
                <a:sym typeface="Roboto"/>
              </a:rPr>
              <a:t> auto etc</a:t>
            </a:r>
            <a:r>
              <a:rPr lang="ro-RO"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Obiectivul</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clubului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este</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să</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facă</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produse</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accesibile</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tuturor</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suporterilor</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pentru</a:t>
            </a:r>
            <a:r>
              <a:rPr lang="en-GB" sz="1200" dirty="0">
                <a:solidFill>
                  <a:schemeClr val="tx1">
                    <a:lumMod val="75000"/>
                    <a:lumOff val="25000"/>
                  </a:schemeClr>
                </a:solidFill>
                <a:ea typeface="Roboto"/>
                <a:cs typeface="Roboto"/>
                <a:sym typeface="Roboto"/>
              </a:rPr>
              <a:t> ca sala </a:t>
            </a:r>
            <a:r>
              <a:rPr lang="en-GB" sz="1200" dirty="0" err="1">
                <a:solidFill>
                  <a:schemeClr val="tx1">
                    <a:lumMod val="75000"/>
                    <a:lumOff val="25000"/>
                  </a:schemeClr>
                </a:solidFill>
                <a:ea typeface="Roboto"/>
                <a:cs typeface="Roboto"/>
                <a:sym typeface="Roboto"/>
              </a:rPr>
              <a:t>să</a:t>
            </a:r>
            <a:r>
              <a:rPr lang="en-GB" sz="1200" dirty="0">
                <a:solidFill>
                  <a:schemeClr val="tx1">
                    <a:lumMod val="75000"/>
                    <a:lumOff val="25000"/>
                  </a:schemeClr>
                </a:solidFill>
                <a:ea typeface="Roboto"/>
                <a:cs typeface="Roboto"/>
                <a:sym typeface="Roboto"/>
              </a:rPr>
              <a:t> fie </a:t>
            </a:r>
            <a:r>
              <a:rPr lang="en-GB" sz="1200" dirty="0" err="1">
                <a:solidFill>
                  <a:schemeClr val="tx1">
                    <a:lumMod val="75000"/>
                    <a:lumOff val="25000"/>
                  </a:schemeClr>
                </a:solidFill>
                <a:ea typeface="Roboto"/>
                <a:cs typeface="Roboto"/>
                <a:sym typeface="Roboto"/>
              </a:rPr>
              <a:t>cât</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mai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albastră</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și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atmosfera</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să</a:t>
            </a:r>
            <a:r>
              <a:rPr lang="en-GB" sz="1200" dirty="0">
                <a:solidFill>
                  <a:schemeClr val="tx1">
                    <a:lumMod val="75000"/>
                    <a:lumOff val="25000"/>
                  </a:schemeClr>
                </a:solidFill>
                <a:ea typeface="Roboto"/>
                <a:cs typeface="Roboto"/>
                <a:sym typeface="Roboto"/>
              </a:rPr>
              <a:t> fie un </a:t>
            </a:r>
            <a:r>
              <a:rPr lang="en-GB" sz="1200" dirty="0" err="1">
                <a:solidFill>
                  <a:schemeClr val="tx1">
                    <a:lumMod val="75000"/>
                    <a:lumOff val="25000"/>
                  </a:schemeClr>
                </a:solidFill>
                <a:ea typeface="Roboto"/>
                <a:cs typeface="Roboto"/>
                <a:sym typeface="Roboto"/>
              </a:rPr>
              <a:t>spectacol</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vizual</a:t>
            </a:r>
            <a:r>
              <a:rPr lang="en-GB" sz="1200" dirty="0">
                <a:solidFill>
                  <a:schemeClr val="tx1">
                    <a:lumMod val="75000"/>
                    <a:lumOff val="25000"/>
                  </a:schemeClr>
                </a:solidFill>
                <a:ea typeface="Roboto"/>
                <a:cs typeface="Roboto"/>
                <a:sym typeface="Roboto"/>
              </a:rPr>
              <a:t> al </a:t>
            </a:r>
            <a:r>
              <a:rPr lang="en-GB" sz="1200" dirty="0" err="1">
                <a:solidFill>
                  <a:schemeClr val="tx1">
                    <a:lumMod val="75000"/>
                    <a:lumOff val="25000"/>
                  </a:schemeClr>
                </a:solidFill>
                <a:ea typeface="Roboto"/>
                <a:cs typeface="Roboto"/>
                <a:sym typeface="Roboto"/>
              </a:rPr>
              <a:t>comunității</a:t>
            </a:r>
            <a:r>
              <a:rPr lang="ro-RO" sz="1200" dirty="0">
                <a:solidFill>
                  <a:schemeClr val="tx1">
                    <a:lumMod val="75000"/>
                    <a:lumOff val="25000"/>
                  </a:schemeClr>
                </a:solidFill>
                <a:ea typeface="Roboto"/>
                <a:cs typeface="Roboto"/>
                <a:sym typeface="Roboto"/>
              </a:rPr>
              <a:t>.</a:t>
            </a:r>
            <a:endParaRPr sz="1200" dirty="0">
              <a:solidFill>
                <a:schemeClr val="tx1">
                  <a:lumMod val="75000"/>
                  <a:lumOff val="25000"/>
                </a:schemeClr>
              </a:solidFill>
              <a:ea typeface="Roboto"/>
              <a:cs typeface="Roboto"/>
              <a:sym typeface="Roboto"/>
            </a:endParaRPr>
          </a:p>
        </p:txBody>
      </p:sp>
      <p:pic>
        <p:nvPicPr>
          <p:cNvPr id="423" name="Google Shape;423;g372a9e3e5a1_0_0" title="IMG-20250804-WA0109.jpg"/>
          <p:cNvPicPr preferRelativeResize="0"/>
          <p:nvPr/>
        </p:nvPicPr>
        <p:blipFill>
          <a:blip r:embed="rId3">
            <a:alphaModFix/>
          </a:blip>
          <a:stretch>
            <a:fillRect/>
          </a:stretch>
        </p:blipFill>
        <p:spPr>
          <a:xfrm>
            <a:off x="6767875" y="2413073"/>
            <a:ext cx="4425675" cy="2108225"/>
          </a:xfrm>
          <a:prstGeom prst="rect">
            <a:avLst/>
          </a:prstGeom>
          <a:noFill/>
          <a:ln>
            <a:noFill/>
          </a:ln>
        </p:spPr>
      </p:pic>
      <p:pic>
        <p:nvPicPr>
          <p:cNvPr id="424" name="Google Shape;424;g372a9e3e5a1_0_0" title="IMG-20250804-WA0105.jpg"/>
          <p:cNvPicPr preferRelativeResize="0"/>
          <p:nvPr/>
        </p:nvPicPr>
        <p:blipFill>
          <a:blip r:embed="rId4">
            <a:alphaModFix/>
          </a:blip>
          <a:srcRect t="14857" b="21627"/>
          <a:stretch>
            <a:fillRect/>
          </a:stretch>
        </p:blipFill>
        <p:spPr>
          <a:xfrm>
            <a:off x="6767875" y="228480"/>
            <a:ext cx="4425680" cy="2108225"/>
          </a:xfrm>
          <a:prstGeom prst="rect">
            <a:avLst/>
          </a:prstGeom>
          <a:noFill/>
          <a:ln>
            <a:noFill/>
          </a:ln>
        </p:spPr>
      </p:pic>
      <p:sp>
        <p:nvSpPr>
          <p:cNvPr id="3" name="Google Shape;421;g372a9e3e5a1_0_0">
            <a:extLst>
              <a:ext uri="{FF2B5EF4-FFF2-40B4-BE49-F238E27FC236}">
                <a16:creationId xmlns:a16="http://schemas.microsoft.com/office/drawing/2014/main" id="{27294728-A9FB-5F0A-4BCE-4A665EAC870B}"/>
              </a:ext>
            </a:extLst>
          </p:cNvPr>
          <p:cNvSpPr txBox="1"/>
          <p:nvPr/>
        </p:nvSpPr>
        <p:spPr>
          <a:xfrm>
            <a:off x="379849" y="4705487"/>
            <a:ext cx="6257600" cy="1241197"/>
          </a:xfrm>
          <a:prstGeom prst="rect">
            <a:avLst/>
          </a:prstGeom>
          <a:noFill/>
          <a:ln>
            <a:noFill/>
          </a:ln>
        </p:spPr>
        <p:txBody>
          <a:bodyPr spcFirstLastPara="1" wrap="square" lIns="91433" tIns="45700" rIns="91433" bIns="45700" anchor="t" anchorCtr="0">
            <a:spAutoFit/>
          </a:bodyPr>
          <a:lstStyle/>
          <a:p>
            <a:pPr lvl="0"/>
            <a:r>
              <a:rPr lang="en-GB" sz="3733" dirty="0">
                <a:solidFill>
                  <a:srgbClr val="2E3A90"/>
                </a:solidFill>
                <a:latin typeface="Montserrat ExtraBold" panose="00000900000000000000" pitchFamily="50" charset="0"/>
                <a:ea typeface="Bebas Neue"/>
                <a:cs typeface="Bebas Neue"/>
                <a:sym typeface="Bebas Neue"/>
              </a:rPr>
              <a:t>Hervis x HC </a:t>
            </a:r>
            <a:r>
              <a:rPr lang="en-GB" sz="3733" dirty="0" err="1">
                <a:solidFill>
                  <a:srgbClr val="2E3A90"/>
                </a:solidFill>
                <a:latin typeface="Montserrat ExtraBold" panose="00000900000000000000" pitchFamily="50" charset="0"/>
                <a:ea typeface="Bebas Neue"/>
                <a:cs typeface="Bebas Neue"/>
                <a:sym typeface="Bebas Neue"/>
              </a:rPr>
              <a:t>Dunărea</a:t>
            </a:r>
            <a:r>
              <a:rPr lang="en-GB" sz="3733" dirty="0">
                <a:solidFill>
                  <a:srgbClr val="2E3A90"/>
                </a:solidFill>
                <a:latin typeface="Montserrat ExtraBold" panose="00000900000000000000" pitchFamily="50" charset="0"/>
                <a:ea typeface="Bebas Neue"/>
                <a:cs typeface="Bebas Neue"/>
                <a:sym typeface="Bebas Neue"/>
              </a:rPr>
              <a:t> </a:t>
            </a:r>
            <a:r>
              <a:rPr lang="en-GB" sz="3733" dirty="0" err="1">
                <a:solidFill>
                  <a:srgbClr val="2E3A90"/>
                </a:solidFill>
                <a:latin typeface="Montserrat ExtraBold" panose="00000900000000000000" pitchFamily="50" charset="0"/>
                <a:ea typeface="Bebas Neue"/>
                <a:cs typeface="Bebas Neue"/>
                <a:sym typeface="Bebas Neue"/>
              </a:rPr>
              <a:t>Brăila</a:t>
            </a:r>
            <a:endParaRPr lang="en-GB" sz="3733" dirty="0">
              <a:solidFill>
                <a:srgbClr val="2E3A90"/>
              </a:solidFill>
              <a:latin typeface="Montserrat ExtraBold" panose="00000900000000000000" pitchFamily="50" charset="0"/>
              <a:ea typeface="Bebas Neue"/>
              <a:cs typeface="Bebas Neue"/>
              <a:sym typeface="Bebas Neue"/>
            </a:endParaRPr>
          </a:p>
        </p:txBody>
      </p:sp>
      <p:sp>
        <p:nvSpPr>
          <p:cNvPr id="4" name="Google Shape;413;g371502a4ebc_4_79">
            <a:extLst>
              <a:ext uri="{FF2B5EF4-FFF2-40B4-BE49-F238E27FC236}">
                <a16:creationId xmlns:a16="http://schemas.microsoft.com/office/drawing/2014/main" id="{FCBB739E-2645-6029-0B12-0D9E388C9052}"/>
              </a:ext>
            </a:extLst>
          </p:cNvPr>
          <p:cNvSpPr txBox="1"/>
          <p:nvPr/>
        </p:nvSpPr>
        <p:spPr>
          <a:xfrm>
            <a:off x="387761" y="5946813"/>
            <a:ext cx="6440075" cy="461624"/>
          </a:xfrm>
          <a:prstGeom prst="rect">
            <a:avLst/>
          </a:prstGeom>
          <a:noFill/>
          <a:ln>
            <a:noFill/>
          </a:ln>
        </p:spPr>
        <p:txBody>
          <a:bodyPr spcFirstLastPara="1" wrap="square" lIns="91433" tIns="45700" rIns="91433" bIns="45700" anchor="t" anchorCtr="0">
            <a:spAutoFit/>
          </a:bodyPr>
          <a:lstStyle/>
          <a:p>
            <a:pPr lvl="0">
              <a:buClr>
                <a:schemeClr val="dk1"/>
              </a:buClr>
              <a:buSzPts val="825"/>
            </a:pPr>
            <a:r>
              <a:rPr lang="en-GB" sz="1200" dirty="0" err="1">
                <a:solidFill>
                  <a:schemeClr val="tx1">
                    <a:lumMod val="75000"/>
                    <a:lumOff val="25000"/>
                  </a:schemeClr>
                </a:solidFill>
                <a:ea typeface="Roboto"/>
                <a:cs typeface="Roboto"/>
                <a:sym typeface="Roboto"/>
              </a:rPr>
              <a:t>Produsele</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oficiale</a:t>
            </a:r>
            <a:r>
              <a:rPr lang="en-GB" sz="1200" dirty="0">
                <a:solidFill>
                  <a:schemeClr val="tx1">
                    <a:lumMod val="75000"/>
                    <a:lumOff val="25000"/>
                  </a:schemeClr>
                </a:solidFill>
                <a:ea typeface="Roboto"/>
                <a:cs typeface="Roboto"/>
                <a:sym typeface="Roboto"/>
              </a:rPr>
              <a:t> ale </a:t>
            </a:r>
            <a:r>
              <a:rPr lang="en-GB" sz="1200" dirty="0" err="1">
                <a:solidFill>
                  <a:schemeClr val="tx1">
                    <a:lumMod val="75000"/>
                    <a:lumOff val="25000"/>
                  </a:schemeClr>
                </a:solidFill>
                <a:ea typeface="Roboto"/>
                <a:cs typeface="Roboto"/>
                <a:sym typeface="Roboto"/>
              </a:rPr>
              <a:t>clubului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nostru</a:t>
            </a:r>
            <a:r>
              <a:rPr lang="en-GB" sz="1200" dirty="0">
                <a:solidFill>
                  <a:schemeClr val="tx1">
                    <a:lumMod val="75000"/>
                    <a:lumOff val="25000"/>
                  </a:schemeClr>
                </a:solidFill>
                <a:ea typeface="Roboto"/>
                <a:cs typeface="Roboto"/>
                <a:sym typeface="Roboto"/>
              </a:rPr>
              <a:t> se </a:t>
            </a:r>
            <a:r>
              <a:rPr lang="en-GB" sz="1200" dirty="0" err="1">
                <a:solidFill>
                  <a:schemeClr val="tx1">
                    <a:lumMod val="75000"/>
                    <a:lumOff val="25000"/>
                  </a:schemeClr>
                </a:solidFill>
                <a:ea typeface="Roboto"/>
                <a:cs typeface="Roboto"/>
                <a:sym typeface="Roboto"/>
              </a:rPr>
              <a:t>găsesc</a:t>
            </a:r>
            <a:r>
              <a:rPr lang="en-GB" sz="1200" dirty="0">
                <a:solidFill>
                  <a:schemeClr val="tx1">
                    <a:lumMod val="75000"/>
                    <a:lumOff val="25000"/>
                  </a:schemeClr>
                </a:solidFill>
                <a:ea typeface="Roboto"/>
                <a:cs typeface="Roboto"/>
                <a:sym typeface="Roboto"/>
              </a:rPr>
              <a:t> la </a:t>
            </a:r>
            <a:r>
              <a:rPr lang="en-GB" sz="1200" dirty="0" err="1">
                <a:solidFill>
                  <a:schemeClr val="tx1">
                    <a:lumMod val="75000"/>
                    <a:lumOff val="25000"/>
                  </a:schemeClr>
                </a:solidFill>
                <a:ea typeface="Roboto"/>
                <a:cs typeface="Roboto"/>
                <a:sym typeface="Roboto"/>
              </a:rPr>
              <a:t>vânzare</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și</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în</a:t>
            </a:r>
            <a:r>
              <a:rPr lang="en-GB" sz="1200" dirty="0">
                <a:solidFill>
                  <a:schemeClr val="tx1">
                    <a:lumMod val="75000"/>
                    <a:lumOff val="25000"/>
                  </a:schemeClr>
                </a:solidFill>
                <a:ea typeface="Roboto"/>
                <a:cs typeface="Roboto"/>
                <a:sym typeface="Roboto"/>
              </a:rPr>
              <a:t> </a:t>
            </a:r>
            <a:r>
              <a:rPr lang="en-GB" sz="1200" dirty="0" err="1">
                <a:solidFill>
                  <a:schemeClr val="tx1">
                    <a:lumMod val="75000"/>
                    <a:lumOff val="25000"/>
                  </a:schemeClr>
                </a:solidFill>
                <a:ea typeface="Roboto"/>
                <a:cs typeface="Roboto"/>
                <a:sym typeface="Roboto"/>
              </a:rPr>
              <a:t>magazinul</a:t>
            </a:r>
            <a:r>
              <a:rPr lang="en-GB" sz="1200" dirty="0">
                <a:solidFill>
                  <a:schemeClr val="tx1">
                    <a:lumMod val="75000"/>
                    <a:lumOff val="25000"/>
                  </a:schemeClr>
                </a:solidFill>
                <a:ea typeface="Roboto"/>
                <a:cs typeface="Roboto"/>
                <a:sym typeface="Roboto"/>
              </a:rPr>
              <a:t> Hervis din </a:t>
            </a:r>
            <a:r>
              <a:rPr lang="en-GB" sz="1200" dirty="0" err="1">
                <a:solidFill>
                  <a:schemeClr val="tx1">
                    <a:lumMod val="75000"/>
                    <a:lumOff val="25000"/>
                  </a:schemeClr>
                </a:solidFill>
                <a:ea typeface="Roboto"/>
                <a:cs typeface="Roboto"/>
                <a:sym typeface="Roboto"/>
              </a:rPr>
              <a:t>Promenada</a:t>
            </a:r>
            <a:r>
              <a:rPr lang="en-GB" sz="1200" dirty="0">
                <a:solidFill>
                  <a:schemeClr val="tx1">
                    <a:lumMod val="75000"/>
                    <a:lumOff val="25000"/>
                  </a:schemeClr>
                </a:solidFill>
                <a:ea typeface="Roboto"/>
                <a:cs typeface="Roboto"/>
                <a:sym typeface="Roboto"/>
              </a:rPr>
              <a:t> Mall </a:t>
            </a:r>
            <a:r>
              <a:rPr lang="en-GB" sz="1200" dirty="0" err="1">
                <a:solidFill>
                  <a:schemeClr val="tx1">
                    <a:lumMod val="75000"/>
                    <a:lumOff val="25000"/>
                  </a:schemeClr>
                </a:solidFill>
                <a:ea typeface="Roboto"/>
                <a:cs typeface="Roboto"/>
                <a:sym typeface="Roboto"/>
              </a:rPr>
              <a:t>Brăila</a:t>
            </a:r>
            <a:r>
              <a:rPr lang="en-GB" sz="1200" dirty="0">
                <a:solidFill>
                  <a:schemeClr val="tx1">
                    <a:lumMod val="75000"/>
                    <a:lumOff val="25000"/>
                  </a:schemeClr>
                </a:solidFill>
                <a:ea typeface="Roboto"/>
                <a:cs typeface="Roboto"/>
                <a:sym typeface="Roboto"/>
              </a:rPr>
              <a:t>!</a:t>
            </a:r>
            <a:endParaRPr sz="1200" dirty="0">
              <a:solidFill>
                <a:schemeClr val="tx1">
                  <a:lumMod val="75000"/>
                  <a:lumOff val="25000"/>
                </a:schemeClr>
              </a:solidFill>
              <a:ea typeface="Roboto"/>
              <a:cs typeface="Roboto"/>
              <a:sym typeface="Roboto"/>
            </a:endParaRPr>
          </a:p>
        </p:txBody>
      </p:sp>
      <p:pic>
        <p:nvPicPr>
          <p:cNvPr id="6" name="Picture 5">
            <a:extLst>
              <a:ext uri="{FF2B5EF4-FFF2-40B4-BE49-F238E27FC236}">
                <a16:creationId xmlns:a16="http://schemas.microsoft.com/office/drawing/2014/main" id="{1C37BEE5-B6F2-73C5-25A5-16E29C3C7D37}"/>
              </a:ext>
            </a:extLst>
          </p:cNvPr>
          <p:cNvPicPr>
            <a:picLocks noChangeAspect="1"/>
          </p:cNvPicPr>
          <p:nvPr/>
        </p:nvPicPr>
        <p:blipFill>
          <a:blip r:embed="rId5"/>
          <a:srcRect t="13401" b="23084"/>
          <a:stretch>
            <a:fillRect/>
          </a:stretch>
        </p:blipFill>
        <p:spPr>
          <a:xfrm>
            <a:off x="6762120" y="4597665"/>
            <a:ext cx="4425675" cy="2108227"/>
          </a:xfrm>
          <a:prstGeom prst="rect">
            <a:avLst/>
          </a:prstGeom>
        </p:spPr>
      </p:pic>
      <p:sp>
        <p:nvSpPr>
          <p:cNvPr id="2" name="Isosceles Triangle 1">
            <a:extLst>
              <a:ext uri="{FF2B5EF4-FFF2-40B4-BE49-F238E27FC236}">
                <a16:creationId xmlns:a16="http://schemas.microsoft.com/office/drawing/2014/main" id="{9D833944-F1E1-D6BD-8876-6AA031C715F3}"/>
              </a:ext>
            </a:extLst>
          </p:cNvPr>
          <p:cNvSpPr/>
          <p:nvPr/>
        </p:nvSpPr>
        <p:spPr>
          <a:xfrm rot="5400000">
            <a:off x="11684682" y="3162539"/>
            <a:ext cx="364124" cy="168799"/>
          </a:xfrm>
          <a:prstGeom prst="triangle">
            <a:avLst/>
          </a:prstGeom>
          <a:solidFill>
            <a:srgbClr val="2E3A90"/>
          </a:solidFill>
          <a:ln>
            <a:solidFill>
              <a:srgbClr val="2E3A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236</Words>
  <Application>Microsoft Office PowerPoint</Application>
  <PresentationFormat>Widescreen</PresentationFormat>
  <Paragraphs>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Montserrat ExtraBold</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E-ProDesign</dc:creator>
  <cp:lastModifiedBy>E-ProDesign</cp:lastModifiedBy>
  <cp:revision>1</cp:revision>
  <dcterms:created xsi:type="dcterms:W3CDTF">2025-11-04T07:38:22Z</dcterms:created>
  <dcterms:modified xsi:type="dcterms:W3CDTF">2025-11-04T07:42:08Z</dcterms:modified>
</cp:coreProperties>
</file>