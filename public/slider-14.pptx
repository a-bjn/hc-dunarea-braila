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B7C4B-5832-4D78-8883-420AD6D963B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04C5E-9702-42A7-A386-8832E1A6E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1502a4ebc_2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71502a4ebc_2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>
            <a:spLocks noGrp="1"/>
          </p:cNvSpPr>
          <p:nvPr>
            <p:ph type="pic" idx="2"/>
          </p:nvPr>
        </p:nvSpPr>
        <p:spPr>
          <a:xfrm>
            <a:off x="5500913" y="-1"/>
            <a:ext cx="66912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49617410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89C60-B897-4C6C-A847-C113A633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2EFDA-80AA-45A8-809F-C742433E2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7DE5E-E26B-414A-8C7E-45F9C58AB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76AC0-61C2-4B32-8DD7-CED6D296436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3308D-AE15-48C1-8C4E-7AD455D47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BD0B6-CD03-4F64-BF86-C7F0D7292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78EF3-8BF0-4CA3-8C8E-7D929E2ED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9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pn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2E9A30-5403-E836-5A03-5136C7BA59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808736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310" name="Google Shape;310;g371502a4ebc_2_235" title="WhatsApp Image 2025-07-24 at 16.30.46.jpeg"/>
          <p:cNvPicPr preferRelativeResize="0"/>
          <p:nvPr/>
        </p:nvPicPr>
        <p:blipFill rotWithShape="1">
          <a:blip r:embed="rId3">
            <a:alphaModFix/>
          </a:blip>
          <a:srcRect t="6960" b="35659"/>
          <a:stretch>
            <a:fillRect/>
          </a:stretch>
        </p:blipFill>
        <p:spPr>
          <a:xfrm>
            <a:off x="6694444" y="1"/>
            <a:ext cx="5497557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g371502a4ebc_2_235"/>
          <p:cNvCxnSpPr/>
          <p:nvPr/>
        </p:nvCxnSpPr>
        <p:spPr>
          <a:xfrm>
            <a:off x="7048564" y="4758325"/>
            <a:ext cx="0" cy="880000"/>
          </a:xfrm>
          <a:prstGeom prst="straightConnector1">
            <a:avLst/>
          </a:prstGeom>
          <a:noFill/>
          <a:ln w="9525" cap="flat" cmpd="sng">
            <a:solidFill>
              <a:srgbClr val="DFEFF5">
                <a:alpha val="5373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6" name="Google Shape;326;g371502a4ebc_2_235"/>
          <p:cNvSpPr txBox="1"/>
          <p:nvPr/>
        </p:nvSpPr>
        <p:spPr>
          <a:xfrm>
            <a:off x="2606012" y="2148294"/>
            <a:ext cx="2042800" cy="40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r>
              <a:rPr lang="en-GB" sz="1400" b="1" dirty="0">
                <a:solidFill>
                  <a:srgbClr val="2E3A90"/>
                </a:solidFill>
              </a:rPr>
              <a:t>@hcdunareabraila</a:t>
            </a:r>
            <a:endParaRPr sz="1400" b="1" dirty="0">
              <a:solidFill>
                <a:srgbClr val="2E3A90"/>
              </a:solidFill>
            </a:endParaRPr>
          </a:p>
        </p:txBody>
      </p:sp>
      <p:sp>
        <p:nvSpPr>
          <p:cNvPr id="2" name="Google Shape;291;g371502a4ebc_0_28">
            <a:extLst>
              <a:ext uri="{FF2B5EF4-FFF2-40B4-BE49-F238E27FC236}">
                <a16:creationId xmlns:a16="http://schemas.microsoft.com/office/drawing/2014/main" id="{E34D6BC3-4EA1-8BDA-9693-A41DFF3FEF02}"/>
              </a:ext>
            </a:extLst>
          </p:cNvPr>
          <p:cNvSpPr txBox="1"/>
          <p:nvPr/>
        </p:nvSpPr>
        <p:spPr>
          <a:xfrm>
            <a:off x="528849" y="450153"/>
            <a:ext cx="4805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3600" i="1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REȚELE SOCIALE</a:t>
            </a:r>
            <a:endParaRPr sz="3600" i="1" dirty="0">
              <a:solidFill>
                <a:srgbClr val="2E3A90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5A9230-422B-7E70-E916-67843C71095B}"/>
              </a:ext>
            </a:extLst>
          </p:cNvPr>
          <p:cNvGrpSpPr/>
          <p:nvPr/>
        </p:nvGrpSpPr>
        <p:grpSpPr>
          <a:xfrm>
            <a:off x="2619813" y="1581744"/>
            <a:ext cx="4041328" cy="735510"/>
            <a:chOff x="1464757" y="1132590"/>
            <a:chExt cx="3030996" cy="551633"/>
          </a:xfrm>
        </p:grpSpPr>
        <p:sp>
          <p:nvSpPr>
            <p:cNvPr id="7" name="Google Shape;292;g371502a4ebc_0_28">
              <a:extLst>
                <a:ext uri="{FF2B5EF4-FFF2-40B4-BE49-F238E27FC236}">
                  <a16:creationId xmlns:a16="http://schemas.microsoft.com/office/drawing/2014/main" id="{9A7714C5-BD26-4EBF-D12D-6BD13636C1DC}"/>
                </a:ext>
              </a:extLst>
            </p:cNvPr>
            <p:cNvSpPr txBox="1"/>
            <p:nvPr/>
          </p:nvSpPr>
          <p:spPr>
            <a:xfrm>
              <a:off x="1467553" y="1132590"/>
              <a:ext cx="3028200" cy="253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067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Creșterea</a:t>
              </a:r>
              <a:r>
                <a:rPr lang="en-GB" sz="1067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GB" sz="1067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comunității</a:t>
              </a:r>
              <a:endParaRPr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sp>
          <p:nvSpPr>
            <p:cNvPr id="8" name="Google Shape;303;g371502a4ebc_0_28">
              <a:extLst>
                <a:ext uri="{FF2B5EF4-FFF2-40B4-BE49-F238E27FC236}">
                  <a16:creationId xmlns:a16="http://schemas.microsoft.com/office/drawing/2014/main" id="{957196E5-916F-A584-722E-7A7CFC51D0A9}"/>
                </a:ext>
              </a:extLst>
            </p:cNvPr>
            <p:cNvSpPr txBox="1"/>
            <p:nvPr/>
          </p:nvSpPr>
          <p:spPr>
            <a:xfrm>
              <a:off x="1464757" y="1307178"/>
              <a:ext cx="2861400" cy="377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r>
                <a:rPr lang="ro-RO" sz="2667" i="1" dirty="0">
                  <a:solidFill>
                    <a:srgbClr val="2E3A90"/>
                  </a:solidFill>
                  <a:latin typeface="Montserrat ExtraBold" panose="00000900000000000000" pitchFamily="50" charset="0"/>
                  <a:ea typeface="Bebas Neue"/>
                  <a:cs typeface="Bebas Neue"/>
                  <a:sym typeface="Bebas Neue"/>
                </a:rPr>
                <a:t>INSTAGRAM</a:t>
              </a:r>
              <a:endParaRPr sz="2667" i="1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10" name="Google Shape;295;g371502a4ebc_0_28">
            <a:extLst>
              <a:ext uri="{FF2B5EF4-FFF2-40B4-BE49-F238E27FC236}">
                <a16:creationId xmlns:a16="http://schemas.microsoft.com/office/drawing/2014/main" id="{58E98087-389B-B532-15E1-72037731E71B}"/>
              </a:ext>
            </a:extLst>
          </p:cNvPr>
          <p:cNvSpPr txBox="1"/>
          <p:nvPr/>
        </p:nvSpPr>
        <p:spPr>
          <a:xfrm>
            <a:off x="2636993" y="3066150"/>
            <a:ext cx="2109843" cy="4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La 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începutul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sezonului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Septembrie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2023)</a:t>
            </a:r>
            <a:endParaRPr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97;g371502a4ebc_0_28">
            <a:extLst>
              <a:ext uri="{FF2B5EF4-FFF2-40B4-BE49-F238E27FC236}">
                <a16:creationId xmlns:a16="http://schemas.microsoft.com/office/drawing/2014/main" id="{2DF63A78-534B-3085-F099-7C09617A0430}"/>
              </a:ext>
            </a:extLst>
          </p:cNvPr>
          <p:cNvSpPr txBox="1"/>
          <p:nvPr/>
        </p:nvSpPr>
        <p:spPr>
          <a:xfrm>
            <a:off x="528849" y="5364545"/>
            <a:ext cx="2030905" cy="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4.892</a:t>
            </a:r>
          </a:p>
          <a:p>
            <a:pPr>
              <a:lnSpc>
                <a:spcPct val="80000"/>
              </a:lnSpc>
            </a:pPr>
            <a:r>
              <a:rPr lang="en-GB" sz="1100" dirty="0" err="1">
                <a:solidFill>
                  <a:srgbClr val="2E3A90"/>
                </a:solidFill>
                <a:latin typeface="Montserrat ExtraBold" pitchFamily="2" charset="0"/>
                <a:ea typeface="Roboto Medium"/>
                <a:cs typeface="Roboto Medium"/>
                <a:sym typeface="Roboto Medium"/>
              </a:rPr>
              <a:t>urmăritori</a:t>
            </a:r>
            <a:endParaRPr sz="1100" dirty="0">
              <a:solidFill>
                <a:srgbClr val="2E3A90"/>
              </a:solidFill>
              <a:latin typeface="Montserrat ExtraBold" pitchFamily="2" charset="0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" name="Google Shape;298;g371502a4ebc_0_28">
            <a:extLst>
              <a:ext uri="{FF2B5EF4-FFF2-40B4-BE49-F238E27FC236}">
                <a16:creationId xmlns:a16="http://schemas.microsoft.com/office/drawing/2014/main" id="{453BF179-E644-7758-26ED-94F6A5D61BA9}"/>
              </a:ext>
            </a:extLst>
          </p:cNvPr>
          <p:cNvSpPr txBox="1"/>
          <p:nvPr/>
        </p:nvSpPr>
        <p:spPr>
          <a:xfrm>
            <a:off x="2636993" y="5493946"/>
            <a:ext cx="1093600" cy="4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Septembrie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2025</a:t>
            </a:r>
            <a:endParaRPr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301;g371502a4ebc_0_28">
            <a:extLst>
              <a:ext uri="{FF2B5EF4-FFF2-40B4-BE49-F238E27FC236}">
                <a16:creationId xmlns:a16="http://schemas.microsoft.com/office/drawing/2014/main" id="{1125CE3F-14CF-08F5-2534-E68FE447D913}"/>
              </a:ext>
            </a:extLst>
          </p:cNvPr>
          <p:cNvSpPr txBox="1"/>
          <p:nvPr/>
        </p:nvSpPr>
        <p:spPr>
          <a:xfrm>
            <a:off x="532455" y="4133160"/>
            <a:ext cx="186660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+5</a:t>
            </a: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7</a:t>
            </a:r>
            <a:r>
              <a:rPr lang="en-GB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%</a:t>
            </a:r>
            <a:endParaRPr sz="4000" dirty="0">
              <a:solidFill>
                <a:srgbClr val="2E3A90"/>
              </a:solidFill>
              <a:latin typeface="Montserrat ExtraBold" pitchFamily="2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14" name="Google Shape;302;g371502a4ebc_0_28">
            <a:extLst>
              <a:ext uri="{FF2B5EF4-FFF2-40B4-BE49-F238E27FC236}">
                <a16:creationId xmlns:a16="http://schemas.microsoft.com/office/drawing/2014/main" id="{D85F5699-5C77-F248-3FB0-C498F6385FF2}"/>
              </a:ext>
            </a:extLst>
          </p:cNvPr>
          <p:cNvSpPr txBox="1"/>
          <p:nvPr/>
        </p:nvSpPr>
        <p:spPr>
          <a:xfrm>
            <a:off x="2636993" y="4235698"/>
            <a:ext cx="1249600" cy="4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Creștere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lang="ro-RO"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procentuală</a:t>
            </a:r>
            <a:endParaRPr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304;g371502a4ebc_0_28">
            <a:extLst>
              <a:ext uri="{FF2B5EF4-FFF2-40B4-BE49-F238E27FC236}">
                <a16:creationId xmlns:a16="http://schemas.microsoft.com/office/drawing/2014/main" id="{DC9FA148-7571-A1B7-4CE7-EAF4619B4F58}"/>
              </a:ext>
            </a:extLst>
          </p:cNvPr>
          <p:cNvSpPr txBox="1"/>
          <p:nvPr/>
        </p:nvSpPr>
        <p:spPr>
          <a:xfrm>
            <a:off x="534908" y="3018863"/>
            <a:ext cx="2049755" cy="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3.330</a:t>
            </a:r>
          </a:p>
          <a:p>
            <a:pPr lvl="0">
              <a:lnSpc>
                <a:spcPct val="80000"/>
              </a:lnSpc>
            </a:pPr>
            <a:r>
              <a:rPr lang="en-GB" sz="1100" dirty="0" err="1">
                <a:solidFill>
                  <a:srgbClr val="2E3A90"/>
                </a:solidFill>
                <a:latin typeface="Montserrat ExtraBold" pitchFamily="2" charset="0"/>
                <a:ea typeface="Roboto Medium"/>
                <a:cs typeface="Roboto Medium"/>
                <a:sym typeface="Roboto Medium"/>
              </a:rPr>
              <a:t>urmăritori</a:t>
            </a:r>
            <a:endParaRPr sz="1100" dirty="0">
              <a:solidFill>
                <a:srgbClr val="2E3A9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7" name="Picture 16" descr="A qr code on a black background&#10;&#10;AI-generated content may be incorrect.">
            <a:extLst>
              <a:ext uri="{FF2B5EF4-FFF2-40B4-BE49-F238E27FC236}">
                <a16:creationId xmlns:a16="http://schemas.microsoft.com/office/drawing/2014/main" id="{B54B812B-E7FB-0FF0-5C5C-EA06D469E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48" y="1222342"/>
            <a:ext cx="1464085" cy="1464085"/>
          </a:xfrm>
          <a:prstGeom prst="rect">
            <a:avLst/>
          </a:prstGeom>
        </p:spPr>
      </p:pic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E2D17F05-A8AA-3EF6-231A-DAAA750FB114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rgbClr val="2E3A90"/>
          </a:solidFill>
          <a:ln>
            <a:solidFill>
              <a:srgbClr val="2E3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Montserrat ExtraBold</vt:lpstr>
      <vt:lpstr>Roboto</vt:lpstr>
      <vt:lpstr>Roboto Black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2025-11-04T07:36:49Z</dcterms:created>
  <dcterms:modified xsi:type="dcterms:W3CDTF">2025-11-04T07:41:36Z</dcterms:modified>
</cp:coreProperties>
</file>