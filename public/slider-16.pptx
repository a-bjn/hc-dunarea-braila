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9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6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3" /><Relationship Type="http://schemas.openxmlformats.org/officeDocument/2006/relationships/tableStyles" Target="/ppt/tableStyles.xml" Id="rId7" /><Relationship Type="http://schemas.openxmlformats.org/officeDocument/2006/relationships/slide" Target="/ppt/slides/slide1.xml" Id="rId2" /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6" /><Relationship Type="http://schemas.openxmlformats.org/officeDocument/2006/relationships/viewProps" Target="/ppt/viewProps.xml" Id="rId5" /><Relationship Type="http://schemas.openxmlformats.org/officeDocument/2006/relationships/presProps" Target="/ppt/presProps.xml" Id="rI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theme/theme2.xml" Id="rId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6B83AB-F3F5-4C29-9053-377EEA7F119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6182BB-F991-4AAD-97B4-8FC9EDA0B4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576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notesMaster" Target="/ppt/notesMasters/notesMaster1.xml" Id="rId1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>
          <a:extLst>
            <a:ext uri="{FF2B5EF4-FFF2-40B4-BE49-F238E27FC236}">
              <a16:creationId xmlns:a16="http://schemas.microsoft.com/office/drawing/2014/main" id="{4853F4F5-2765-38FA-EC90-B2A4F8DFE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71502a4ebc_2_259:notes">
            <a:extLst>
              <a:ext uri="{FF2B5EF4-FFF2-40B4-BE49-F238E27FC236}">
                <a16:creationId xmlns:a16="http://schemas.microsoft.com/office/drawing/2014/main" id="{78ED1562-CF57-80BA-1BD5-5175B0B22A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29" name="Google Shape;329;g371502a4ebc_2_259:notes">
            <a:extLst>
              <a:ext uri="{FF2B5EF4-FFF2-40B4-BE49-F238E27FC236}">
                <a16:creationId xmlns:a16="http://schemas.microsoft.com/office/drawing/2014/main" id="{BC2594B7-7BF5-8898-7C91-C62DB73572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95809462"/>
      </p:ext>
    </p:extLst>
  </p:cSld>
  <p:clrMapOvr>
    <a:masterClrMapping/>
  </p:clrMapOvr>
</p:note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Slide">
  <p:cSld name="5_Title Slid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1"/>
          <p:cNvSpPr>
            <a:spLocks noGrp="1"/>
          </p:cNvSpPr>
          <p:nvPr>
            <p:ph type="pic" idx="2"/>
          </p:nvPr>
        </p:nvSpPr>
        <p:spPr>
          <a:xfrm>
            <a:off x="5500913" y="-1"/>
            <a:ext cx="6691200" cy="6858000"/>
          </a:xfrm>
          <a:prstGeom prst="rect">
            <a:avLst/>
          </a:prstGeom>
          <a:solidFill>
            <a:srgbClr val="FFECCC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762820359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Id13" /><Relationship Type="http://schemas.openxmlformats.org/officeDocument/2006/relationships/slideLayout" Target="/ppt/slideLayouts/slideLayout12.xml" Id="rId12" /></Relationships>
</file>

<file path=ppt/slideMasters/slideMaster1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6D0994-8121-4EF1-88F3-A8EC44DDA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16EBD6-AA3D-4362-A3EC-64F80BD759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FC4D7-BA0E-43F1-AB40-01CEFA2A1F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7C2693-2349-426E-98E6-E8D1120D835F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AB3AC-BF69-4320-B3F0-B20D67A2E1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22B78-BDFD-4DBA-B9AC-3435E8365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00E144-40C5-4E5C-89CC-6DAA8CB17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592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1.png" Id="rId3" /><Relationship Type="http://schemas.openxmlformats.org/officeDocument/2006/relationships/notesSlide" Target="/ppt/notesSlides/notesSlide1.xml" Id="rId2" /><Relationship Type="http://schemas.openxmlformats.org/officeDocument/2006/relationships/slideLayout" Target="/ppt/slideLayouts/slideLayout12.xml" Id="rId1" /><Relationship Type="http://schemas.openxmlformats.org/officeDocument/2006/relationships/image" Target="/ppt/media/image2.png" Id="rId4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>
          <a:extLst>
            <a:ext uri="{FF2B5EF4-FFF2-40B4-BE49-F238E27FC236}">
              <a16:creationId xmlns:a16="http://schemas.microsoft.com/office/drawing/2014/main" id="{7C6C88DF-4997-E948-8175-67DF9E734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7870C8E-B96F-33F9-2F8B-7AB9E430E18B}"/>
              </a:ext>
            </a:extLst>
          </p:cNvPr>
          <p:cNvSpPr/>
          <p:nvPr/>
        </p:nvSpPr>
        <p:spPr>
          <a:xfrm>
            <a:off x="0" y="1"/>
            <a:ext cx="8087360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  <p:sp>
        <p:nvSpPr>
          <p:cNvPr id="2" name="Google Shape;326;g371502a4ebc_2_235">
            <a:extLst>
              <a:ext uri="{FF2B5EF4-FFF2-40B4-BE49-F238E27FC236}">
                <a16:creationId xmlns:a16="http://schemas.microsoft.com/office/drawing/2014/main" id="{5B9A71A3-87A9-04FF-4039-82BB0626A305}"/>
              </a:ext>
            </a:extLst>
          </p:cNvPr>
          <p:cNvSpPr txBox="1"/>
          <p:nvPr/>
        </p:nvSpPr>
        <p:spPr>
          <a:xfrm>
            <a:off x="2606011" y="2148294"/>
            <a:ext cx="2987964" cy="40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91433" rIns="91433" bIns="91433" anchor="t" anchorCtr="0">
            <a:spAutoFit/>
          </a:bodyPr>
          <a:lstStyle/>
          <a:p>
            <a:r>
              <a:rPr lang="en-GB" sz="1400" b="1" dirty="0">
                <a:solidFill>
                  <a:srgbClr val="2E3A90"/>
                </a:solidFill>
              </a:rPr>
              <a:t>@</a:t>
            </a:r>
            <a:r>
              <a:rPr lang="ro-RO" sz="1400" b="1" dirty="0">
                <a:solidFill>
                  <a:srgbClr val="2E3A90"/>
                </a:solidFill>
              </a:rPr>
              <a:t>HCD</a:t>
            </a:r>
            <a:r>
              <a:rPr lang="en-GB" sz="1400" b="1" dirty="0" err="1">
                <a:solidFill>
                  <a:srgbClr val="2E3A90"/>
                </a:solidFill>
              </a:rPr>
              <a:t>unarea</a:t>
            </a:r>
            <a:r>
              <a:rPr lang="ro-RO" sz="1400" b="1" dirty="0">
                <a:solidFill>
                  <a:srgbClr val="2E3A90"/>
                </a:solidFill>
              </a:rPr>
              <a:t>B</a:t>
            </a:r>
            <a:r>
              <a:rPr lang="en-GB" sz="1400" b="1" dirty="0" err="1">
                <a:solidFill>
                  <a:srgbClr val="2E3A90"/>
                </a:solidFill>
              </a:rPr>
              <a:t>raila</a:t>
            </a:r>
            <a:endParaRPr sz="1400" b="1" dirty="0">
              <a:solidFill>
                <a:srgbClr val="2E3A90"/>
              </a:solidFill>
            </a:endParaRPr>
          </a:p>
        </p:txBody>
      </p:sp>
      <p:sp>
        <p:nvSpPr>
          <p:cNvPr id="6" name="Google Shape;291;g371502a4ebc_0_28">
            <a:extLst>
              <a:ext uri="{FF2B5EF4-FFF2-40B4-BE49-F238E27FC236}">
                <a16:creationId xmlns:a16="http://schemas.microsoft.com/office/drawing/2014/main" id="{CDE59A0E-239E-FC19-4A06-95D32A31912F}"/>
              </a:ext>
            </a:extLst>
          </p:cNvPr>
          <p:cNvSpPr txBox="1"/>
          <p:nvPr/>
        </p:nvSpPr>
        <p:spPr>
          <a:xfrm>
            <a:off x="528849" y="450153"/>
            <a:ext cx="4805001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en-GB" sz="3600" i="1" dirty="0">
                <a:solidFill>
                  <a:srgbClr val="2E3A90"/>
                </a:solidFill>
                <a:latin typeface="Montserrat ExtraBold" panose="00000900000000000000" pitchFamily="50" charset="0"/>
                <a:ea typeface="Bebas Neue"/>
                <a:cs typeface="Bebas Neue"/>
                <a:sym typeface="Bebas Neue"/>
              </a:rPr>
              <a:t>REȚELE SOCIALE</a:t>
            </a:r>
            <a:endParaRPr sz="3600" i="1" dirty="0">
              <a:solidFill>
                <a:srgbClr val="2E3A90"/>
              </a:solidFill>
              <a:latin typeface="Montserrat ExtraBold" panose="00000900000000000000" pitchFamily="50" charset="0"/>
              <a:ea typeface="Bebas Neue"/>
              <a:cs typeface="Bebas Neue"/>
              <a:sym typeface="Bebas Neue"/>
            </a:endParaRPr>
          </a:p>
        </p:txBody>
      </p:sp>
      <p:sp>
        <p:nvSpPr>
          <p:cNvPr id="7" name="Google Shape;295;g371502a4ebc_0_28">
            <a:extLst>
              <a:ext uri="{FF2B5EF4-FFF2-40B4-BE49-F238E27FC236}">
                <a16:creationId xmlns:a16="http://schemas.microsoft.com/office/drawing/2014/main" id="{62FCE8EE-261D-24BB-4F1E-300FF1880408}"/>
              </a:ext>
            </a:extLst>
          </p:cNvPr>
          <p:cNvSpPr txBox="1"/>
          <p:nvPr/>
        </p:nvSpPr>
        <p:spPr>
          <a:xfrm>
            <a:off x="2636993" y="4122349"/>
            <a:ext cx="2109843" cy="4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en-GB" sz="1067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Septembrie</a:t>
            </a:r>
            <a:endParaRPr lang="ro-RO" sz="1067" dirty="0">
              <a:solidFill>
                <a:schemeClr val="tx1">
                  <a:lumMod val="75000"/>
                  <a:lumOff val="25000"/>
                </a:schemeClr>
              </a:solidFill>
              <a:latin typeface="Roboto"/>
              <a:ea typeface="Roboto"/>
              <a:cs typeface="Roboto"/>
              <a:sym typeface="Roboto"/>
            </a:endParaRPr>
          </a:p>
          <a:p>
            <a:r>
              <a:rPr lang="en-GB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202</a:t>
            </a:r>
            <a:r>
              <a:rPr lang="ro-RO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sz="1067" dirty="0">
              <a:solidFill>
                <a:schemeClr val="tx1">
                  <a:lumMod val="75000"/>
                  <a:lumOff val="25000"/>
                </a:schemeClr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" name="Google Shape;297;g371502a4ebc_0_28">
            <a:extLst>
              <a:ext uri="{FF2B5EF4-FFF2-40B4-BE49-F238E27FC236}">
                <a16:creationId xmlns:a16="http://schemas.microsoft.com/office/drawing/2014/main" id="{D43C7A38-298A-683C-EC8F-359E30955E5B}"/>
              </a:ext>
            </a:extLst>
          </p:cNvPr>
          <p:cNvSpPr txBox="1"/>
          <p:nvPr/>
        </p:nvSpPr>
        <p:spPr>
          <a:xfrm>
            <a:off x="528849" y="5364545"/>
            <a:ext cx="2272289" cy="720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>
              <a:lnSpc>
                <a:spcPct val="80000"/>
              </a:lnSpc>
            </a:pPr>
            <a:r>
              <a:rPr lang="ro-RO" sz="4000" dirty="0">
                <a:solidFill>
                  <a:srgbClr val="2E3A90"/>
                </a:solidFill>
                <a:latin typeface="Montserrat ExtraBold" pitchFamily="2" charset="0"/>
                <a:ea typeface="Bebas Neue"/>
                <a:cs typeface="Bebas Neue"/>
                <a:sym typeface="Bebas Neue"/>
              </a:rPr>
              <a:t>416.599</a:t>
            </a:r>
          </a:p>
          <a:p>
            <a:pPr>
              <a:lnSpc>
                <a:spcPct val="80000"/>
              </a:lnSpc>
            </a:pPr>
            <a:r>
              <a:rPr lang="ro-RO" sz="1100" dirty="0" err="1">
                <a:solidFill>
                  <a:srgbClr val="2E3A90"/>
                </a:solidFill>
                <a:latin typeface="Montserrat ExtraBold" pitchFamily="2" charset="0"/>
                <a:ea typeface="Roboto Medium"/>
                <a:cs typeface="Roboto Medium"/>
                <a:sym typeface="Roboto Medium"/>
              </a:rPr>
              <a:t>views</a:t>
            </a:r>
            <a:endParaRPr sz="1100" dirty="0">
              <a:solidFill>
                <a:srgbClr val="2E3A90"/>
              </a:solidFill>
              <a:latin typeface="Montserrat ExtraBold" pitchFamily="2" charset="0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0" name="Google Shape;298;g371502a4ebc_0_28">
            <a:extLst>
              <a:ext uri="{FF2B5EF4-FFF2-40B4-BE49-F238E27FC236}">
                <a16:creationId xmlns:a16="http://schemas.microsoft.com/office/drawing/2014/main" id="{F0F6C901-A3F7-21E0-909C-937162444154}"/>
              </a:ext>
            </a:extLst>
          </p:cNvPr>
          <p:cNvSpPr txBox="1"/>
          <p:nvPr/>
        </p:nvSpPr>
        <p:spPr>
          <a:xfrm>
            <a:off x="2636993" y="5493946"/>
            <a:ext cx="1093600" cy="420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ro-RO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Septembrie</a:t>
            </a:r>
            <a:r>
              <a:rPr lang="en-GB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 2025</a:t>
            </a:r>
            <a:endParaRPr sz="1067" dirty="0">
              <a:solidFill>
                <a:schemeClr val="tx1">
                  <a:lumMod val="75000"/>
                  <a:lumOff val="25000"/>
                </a:schemeClr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304;g371502a4ebc_0_28">
            <a:extLst>
              <a:ext uri="{FF2B5EF4-FFF2-40B4-BE49-F238E27FC236}">
                <a16:creationId xmlns:a16="http://schemas.microsoft.com/office/drawing/2014/main" id="{C05DBAA0-1FD0-674E-0D44-68FE5805725B}"/>
              </a:ext>
            </a:extLst>
          </p:cNvPr>
          <p:cNvSpPr txBox="1"/>
          <p:nvPr/>
        </p:nvSpPr>
        <p:spPr>
          <a:xfrm>
            <a:off x="534908" y="4075062"/>
            <a:ext cx="2049755" cy="720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lvl="0">
              <a:lnSpc>
                <a:spcPct val="80000"/>
              </a:lnSpc>
            </a:pPr>
            <a:r>
              <a:rPr lang="ro-RO" sz="4000" dirty="0">
                <a:solidFill>
                  <a:srgbClr val="2E3A90"/>
                </a:solidFill>
                <a:latin typeface="Montserrat ExtraBold" pitchFamily="2" charset="0"/>
                <a:ea typeface="Bebas Neue"/>
                <a:cs typeface="Bebas Neue"/>
                <a:sym typeface="Bebas Neue"/>
              </a:rPr>
              <a:t>3490</a:t>
            </a:r>
          </a:p>
          <a:p>
            <a:pPr lvl="0">
              <a:lnSpc>
                <a:spcPct val="80000"/>
              </a:lnSpc>
            </a:pPr>
            <a:r>
              <a:rPr lang="en-GB" sz="1100" dirty="0" err="1">
                <a:solidFill>
                  <a:srgbClr val="2E3A90"/>
                </a:solidFill>
                <a:latin typeface="Montserrat ExtraBold" pitchFamily="2" charset="0"/>
                <a:ea typeface="Roboto Medium"/>
                <a:cs typeface="Roboto Medium"/>
                <a:sym typeface="Roboto Medium"/>
              </a:rPr>
              <a:t>urmăritori</a:t>
            </a:r>
            <a:endParaRPr sz="1100" dirty="0">
              <a:solidFill>
                <a:srgbClr val="2E3A9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24" name="Google Shape;303;g371502a4ebc_0_28">
            <a:extLst>
              <a:ext uri="{FF2B5EF4-FFF2-40B4-BE49-F238E27FC236}">
                <a16:creationId xmlns:a16="http://schemas.microsoft.com/office/drawing/2014/main" id="{D8A399E8-B9F0-1F7F-0836-7452FC538498}"/>
              </a:ext>
            </a:extLst>
          </p:cNvPr>
          <p:cNvSpPr txBox="1"/>
          <p:nvPr/>
        </p:nvSpPr>
        <p:spPr>
          <a:xfrm>
            <a:off x="2619813" y="1814529"/>
            <a:ext cx="3815200" cy="502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ro-RO" sz="2667" i="1" dirty="0">
                <a:solidFill>
                  <a:srgbClr val="2E3A90"/>
                </a:solidFill>
                <a:latin typeface="Montserrat ExtraBold" panose="00000900000000000000" pitchFamily="50" charset="0"/>
                <a:ea typeface="Bebas Neue"/>
                <a:cs typeface="Bebas Neue"/>
                <a:sym typeface="Bebas Neue"/>
              </a:rPr>
              <a:t>YOUTUBE</a:t>
            </a:r>
            <a:endParaRPr sz="2667" i="1" dirty="0">
              <a:solidFill>
                <a:srgbClr val="2E3A90"/>
              </a:solidFill>
              <a:latin typeface="Montserrat ExtraBold" panose="00000900000000000000" pitchFamily="50" charset="0"/>
              <a:ea typeface="Bebas Neue"/>
              <a:cs typeface="Bebas Neue"/>
              <a:sym typeface="Bebas Neue"/>
            </a:endParaRPr>
          </a:p>
        </p:txBody>
      </p:sp>
      <p:sp>
        <p:nvSpPr>
          <p:cNvPr id="25" name="Google Shape;292;g371502a4ebc_0_28">
            <a:extLst>
              <a:ext uri="{FF2B5EF4-FFF2-40B4-BE49-F238E27FC236}">
                <a16:creationId xmlns:a16="http://schemas.microsoft.com/office/drawing/2014/main" id="{30F372E8-A7F3-464B-4287-C805FE0ECF52}"/>
              </a:ext>
            </a:extLst>
          </p:cNvPr>
          <p:cNvSpPr txBox="1"/>
          <p:nvPr/>
        </p:nvSpPr>
        <p:spPr>
          <a:xfrm>
            <a:off x="2623541" y="1581745"/>
            <a:ext cx="4037600" cy="33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067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Creșterea</a:t>
            </a:r>
            <a:r>
              <a:rPr lang="en-GB" sz="1067" dirty="0">
                <a:solidFill>
                  <a:schemeClr val="tx1">
                    <a:lumMod val="75000"/>
                    <a:lumOff val="2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GB" sz="1067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comunității</a:t>
            </a:r>
            <a:endParaRPr sz="1467" dirty="0">
              <a:solidFill>
                <a:schemeClr val="tx1">
                  <a:lumMod val="75000"/>
                  <a:lumOff val="25000"/>
                </a:schemeClr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pic>
        <p:nvPicPr>
          <p:cNvPr id="27" name="Picture 26" descr="A qr code with blue squares and squares&#10;&#10;AI-generated content may be incorrect.">
            <a:extLst>
              <a:ext uri="{FF2B5EF4-FFF2-40B4-BE49-F238E27FC236}">
                <a16:creationId xmlns:a16="http://schemas.microsoft.com/office/drawing/2014/main" id="{A96A4BD3-0FAA-7AB4-8AAF-EDDB3F7F8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467" y="1222342"/>
            <a:ext cx="1513311" cy="151331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1C2940-F117-A680-0216-87830D47A8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3245" y="0"/>
            <a:ext cx="6678756" cy="6858000"/>
          </a:xfrm>
          <a:prstGeom prst="rect">
            <a:avLst/>
          </a:prstGeom>
        </p:spPr>
      </p:pic>
      <p:sp>
        <p:nvSpPr>
          <p:cNvPr id="5" name="Google Shape;292;g371502a4ebc_0_28">
            <a:extLst>
              <a:ext uri="{FF2B5EF4-FFF2-40B4-BE49-F238E27FC236}">
                <a16:creationId xmlns:a16="http://schemas.microsoft.com/office/drawing/2014/main" id="{21E1D712-C80E-7BEA-DB2B-93B3A82FBE57}"/>
              </a:ext>
            </a:extLst>
          </p:cNvPr>
          <p:cNvSpPr txBox="1"/>
          <p:nvPr/>
        </p:nvSpPr>
        <p:spPr>
          <a:xfrm>
            <a:off x="528848" y="2735653"/>
            <a:ext cx="4805001" cy="913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en-GB" sz="1067" dirty="0"/>
              <a:t>De </a:t>
            </a:r>
            <a:r>
              <a:rPr lang="en-GB" sz="1067" dirty="0" err="1"/>
              <a:t>trei</a:t>
            </a:r>
            <a:r>
              <a:rPr lang="en-GB" sz="1067" dirty="0"/>
              <a:t> </a:t>
            </a:r>
            <a:r>
              <a:rPr lang="en-GB" sz="1067" dirty="0" err="1"/>
              <a:t>sezoane</a:t>
            </a:r>
            <a:r>
              <a:rPr lang="en-GB" sz="1067" dirty="0"/>
              <a:t> </a:t>
            </a:r>
            <a:r>
              <a:rPr lang="en-GB" sz="1067" dirty="0" err="1"/>
              <a:t>suntem</a:t>
            </a:r>
            <a:r>
              <a:rPr lang="en-GB" sz="1067" dirty="0"/>
              <a:t> </a:t>
            </a:r>
            <a:r>
              <a:rPr lang="en-GB" sz="1067" dirty="0" err="1"/>
              <a:t>singura</a:t>
            </a:r>
            <a:r>
              <a:rPr lang="en-GB" sz="1067" dirty="0"/>
              <a:t> </a:t>
            </a:r>
            <a:r>
              <a:rPr lang="en-GB" sz="1067" dirty="0" err="1"/>
              <a:t>echipă</a:t>
            </a:r>
            <a:r>
              <a:rPr lang="en-GB" sz="1067" dirty="0"/>
              <a:t> din </a:t>
            </a:r>
            <a:r>
              <a:rPr lang="en-GB" sz="1067" dirty="0" err="1"/>
              <a:t>România</a:t>
            </a:r>
            <a:r>
              <a:rPr lang="en-GB" sz="1067" dirty="0"/>
              <a:t> care </a:t>
            </a:r>
            <a:r>
              <a:rPr lang="en-GB" sz="1067" dirty="0" err="1"/>
              <a:t>transmite</a:t>
            </a:r>
            <a:r>
              <a:rPr lang="en-GB" sz="1067" dirty="0"/>
              <a:t> </a:t>
            </a:r>
            <a:r>
              <a:rPr lang="en-GB" sz="1067" b="1" dirty="0" err="1"/>
              <a:t>toate</a:t>
            </a:r>
            <a:r>
              <a:rPr lang="en-GB" sz="1067" b="1" dirty="0"/>
              <a:t> </a:t>
            </a:r>
            <a:r>
              <a:rPr lang="en-GB" sz="1067" b="1" dirty="0" err="1"/>
              <a:t>meciurile</a:t>
            </a:r>
            <a:r>
              <a:rPr lang="en-GB" sz="1067" dirty="0"/>
              <a:t>, </a:t>
            </a:r>
            <a:r>
              <a:rPr lang="en-GB" sz="1067" dirty="0" err="1"/>
              <a:t>acasă</a:t>
            </a:r>
            <a:r>
              <a:rPr lang="en-GB" sz="1067" dirty="0"/>
              <a:t> </a:t>
            </a:r>
            <a:r>
              <a:rPr lang="en-GB" sz="1067" dirty="0" err="1"/>
              <a:t>și</a:t>
            </a:r>
            <a:r>
              <a:rPr lang="en-GB" sz="1067" dirty="0"/>
              <a:t> </a:t>
            </a:r>
            <a:r>
              <a:rPr lang="en-GB" sz="1067" dirty="0" err="1"/>
              <a:t>în</a:t>
            </a:r>
            <a:r>
              <a:rPr lang="en-GB" sz="1067" dirty="0"/>
              <a:t> </a:t>
            </a:r>
            <a:r>
              <a:rPr lang="en-GB" sz="1067" dirty="0" err="1"/>
              <a:t>deplasare</a:t>
            </a:r>
            <a:r>
              <a:rPr lang="en-GB" sz="1067" dirty="0"/>
              <a:t>, pe </a:t>
            </a:r>
            <a:r>
              <a:rPr lang="en-GB" sz="1067" dirty="0" err="1"/>
              <a:t>canalul</a:t>
            </a:r>
            <a:r>
              <a:rPr lang="en-GB" sz="1067" dirty="0"/>
              <a:t> </a:t>
            </a:r>
            <a:r>
              <a:rPr lang="en-GB" sz="1067" dirty="0" err="1"/>
              <a:t>oficial</a:t>
            </a:r>
            <a:r>
              <a:rPr lang="en-GB" sz="1067" dirty="0"/>
              <a:t> de YouTube. </a:t>
            </a:r>
            <a:r>
              <a:rPr lang="en-GB" sz="1067" dirty="0" err="1"/>
              <a:t>Promovăm</a:t>
            </a:r>
            <a:r>
              <a:rPr lang="en-GB" sz="1067" dirty="0"/>
              <a:t> </a:t>
            </a:r>
            <a:r>
              <a:rPr lang="en-GB" sz="1067" dirty="0" err="1"/>
              <a:t>handbalul</a:t>
            </a:r>
            <a:r>
              <a:rPr lang="en-GB" sz="1067" dirty="0"/>
              <a:t>, </a:t>
            </a:r>
            <a:r>
              <a:rPr lang="en-GB" sz="1067" dirty="0" err="1"/>
              <a:t>oferim</a:t>
            </a:r>
            <a:r>
              <a:rPr lang="en-GB" sz="1067" dirty="0"/>
              <a:t> </a:t>
            </a:r>
            <a:r>
              <a:rPr lang="en-GB" sz="1067" dirty="0" err="1"/>
              <a:t>vizibilitate</a:t>
            </a:r>
            <a:r>
              <a:rPr lang="en-GB" sz="1067" dirty="0"/>
              <a:t> </a:t>
            </a:r>
            <a:r>
              <a:rPr lang="en-GB" sz="1067" dirty="0" err="1"/>
              <a:t>sponsorilor</a:t>
            </a:r>
            <a:r>
              <a:rPr lang="en-GB" sz="1067" dirty="0"/>
              <a:t> </a:t>
            </a:r>
            <a:r>
              <a:rPr lang="en-GB" sz="1067" dirty="0" err="1"/>
              <a:t>și</a:t>
            </a:r>
            <a:r>
              <a:rPr lang="en-GB" sz="1067" dirty="0"/>
              <a:t> </a:t>
            </a:r>
            <a:r>
              <a:rPr lang="en-GB" sz="1067" dirty="0" err="1"/>
              <a:t>respectăm</a:t>
            </a:r>
            <a:r>
              <a:rPr lang="en-GB" sz="1067" dirty="0"/>
              <a:t> </a:t>
            </a:r>
            <a:r>
              <a:rPr lang="en-GB" sz="1067" dirty="0" err="1"/>
              <a:t>suporterii</a:t>
            </a:r>
            <a:r>
              <a:rPr lang="en-GB" sz="1067" dirty="0"/>
              <a:t>, </a:t>
            </a:r>
            <a:r>
              <a:rPr lang="en-GB" sz="1067" dirty="0" err="1"/>
              <a:t>familiile</a:t>
            </a:r>
            <a:r>
              <a:rPr lang="en-GB" sz="1067" dirty="0"/>
              <a:t> </a:t>
            </a:r>
            <a:r>
              <a:rPr lang="en-GB" sz="1067" dirty="0" err="1"/>
              <a:t>și</a:t>
            </a:r>
            <a:r>
              <a:rPr lang="en-GB" sz="1067" dirty="0"/>
              <a:t> </a:t>
            </a:r>
            <a:r>
              <a:rPr lang="en-GB" sz="1067" dirty="0" err="1"/>
              <a:t>jucătoarele</a:t>
            </a:r>
            <a:r>
              <a:rPr lang="en-GB" sz="1067" dirty="0"/>
              <a:t>, </a:t>
            </a:r>
            <a:r>
              <a:rPr lang="en-GB" sz="1067" dirty="0" err="1"/>
              <a:t>asigurând</a:t>
            </a:r>
            <a:r>
              <a:rPr lang="en-GB" sz="1067" dirty="0"/>
              <a:t> </a:t>
            </a:r>
            <a:r>
              <a:rPr lang="en-GB" sz="1067" dirty="0" err="1"/>
              <a:t>în</a:t>
            </a:r>
            <a:r>
              <a:rPr lang="en-GB" sz="1067" dirty="0"/>
              <a:t> </a:t>
            </a:r>
            <a:r>
              <a:rPr lang="en-GB" sz="1067" dirty="0" err="1"/>
              <a:t>același</a:t>
            </a:r>
            <a:r>
              <a:rPr lang="en-GB" sz="1067" dirty="0"/>
              <a:t> </a:t>
            </a:r>
            <a:r>
              <a:rPr lang="en-GB" sz="1067" dirty="0" err="1"/>
              <a:t>timp</a:t>
            </a:r>
            <a:r>
              <a:rPr lang="en-GB" sz="1067" dirty="0"/>
              <a:t> </a:t>
            </a:r>
            <a:r>
              <a:rPr lang="en-GB" sz="1067" b="1" dirty="0" err="1"/>
              <a:t>transparență</a:t>
            </a:r>
            <a:r>
              <a:rPr lang="en-GB" sz="1067" dirty="0"/>
              <a:t>.</a:t>
            </a:r>
            <a:r>
              <a:rPr lang="ro-RO" sz="1067" dirty="0"/>
              <a:t> </a:t>
            </a:r>
            <a:r>
              <a:rPr lang="en-GB" sz="1067" dirty="0"/>
              <a:t>Pe </a:t>
            </a:r>
            <a:r>
              <a:rPr lang="en-GB" sz="1067" dirty="0" err="1"/>
              <a:t>lângă</a:t>
            </a:r>
            <a:r>
              <a:rPr lang="en-GB" sz="1067" dirty="0"/>
              <a:t> </a:t>
            </a:r>
            <a:r>
              <a:rPr lang="en-GB" sz="1067" dirty="0" err="1"/>
              <a:t>transmisiuni</a:t>
            </a:r>
            <a:r>
              <a:rPr lang="en-GB" sz="1067" dirty="0"/>
              <a:t>, </a:t>
            </a:r>
            <a:r>
              <a:rPr lang="en-GB" sz="1067" dirty="0" err="1"/>
              <a:t>realizăm</a:t>
            </a:r>
            <a:r>
              <a:rPr lang="en-GB" sz="1067" dirty="0"/>
              <a:t> </a:t>
            </a:r>
            <a:r>
              <a:rPr lang="en-GB" sz="1067" dirty="0" err="1"/>
              <a:t>și</a:t>
            </a:r>
            <a:r>
              <a:rPr lang="en-GB" sz="1067" dirty="0"/>
              <a:t> </a:t>
            </a:r>
            <a:r>
              <a:rPr lang="en-GB" sz="1067" b="1" dirty="0" err="1"/>
              <a:t>podcasturi</a:t>
            </a:r>
            <a:r>
              <a:rPr lang="en-GB" sz="1067" b="1" dirty="0"/>
              <a:t> </a:t>
            </a:r>
            <a:r>
              <a:rPr lang="en-GB" sz="1067" b="1" dirty="0" err="1"/>
              <a:t>inovative</a:t>
            </a:r>
            <a:r>
              <a:rPr lang="en-GB" sz="1067" dirty="0"/>
              <a:t>, care </a:t>
            </a:r>
            <a:r>
              <a:rPr lang="en-GB" sz="1067" dirty="0" err="1"/>
              <a:t>aduc</a:t>
            </a:r>
            <a:r>
              <a:rPr lang="en-GB" sz="1067" dirty="0"/>
              <a:t> </a:t>
            </a:r>
            <a:r>
              <a:rPr lang="en-GB" sz="1067" dirty="0" err="1"/>
              <a:t>comunitatea</a:t>
            </a:r>
            <a:r>
              <a:rPr lang="en-GB" sz="1067" dirty="0"/>
              <a:t> </a:t>
            </a:r>
            <a:r>
              <a:rPr lang="en-GB" sz="1067" dirty="0" err="1"/>
              <a:t>mai</a:t>
            </a:r>
            <a:r>
              <a:rPr lang="en-GB" sz="1067" dirty="0"/>
              <a:t> </a:t>
            </a:r>
            <a:r>
              <a:rPr lang="en-GB" sz="1067" dirty="0" err="1"/>
              <a:t>aproape</a:t>
            </a:r>
            <a:r>
              <a:rPr lang="en-GB" sz="1067" dirty="0"/>
              <a:t> de </a:t>
            </a:r>
            <a:r>
              <a:rPr lang="en-GB" sz="1067" dirty="0" err="1"/>
              <a:t>echipă</a:t>
            </a:r>
            <a:r>
              <a:rPr lang="en-GB" sz="1067" dirty="0"/>
              <a:t>.</a:t>
            </a:r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3FFD6281-DC14-ADD7-B2ED-52B709F45587}"/>
              </a:ext>
            </a:extLst>
          </p:cNvPr>
          <p:cNvSpPr/>
          <p:nvPr/>
        </p:nvSpPr>
        <p:spPr>
          <a:xfrm rot="5400000">
            <a:off x="11684682" y="3162539"/>
            <a:ext cx="364124" cy="168799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37580252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80</Words>
  <Application>Microsoft Office PowerPoint</Application>
  <PresentationFormat>Widescreen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Calibri Light</vt:lpstr>
      <vt:lpstr>Montserrat ExtraBold</vt:lpstr>
      <vt:lpstr>Roboto</vt:lpstr>
      <vt:lpstr>Roboto Black</vt:lpstr>
      <vt:lpstr>Roboto Medium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E-ProDesign</dc:creator>
  <cp:lastModifiedBy>E-ProDesign</cp:lastModifiedBy>
  <cp:revision>1</cp:revision>
  <dcterms:created xsi:type="dcterms:W3CDTF">2025-11-04T07:37:01Z</dcterms:created>
  <dcterms:modified xsi:type="dcterms:W3CDTF">2025-11-04T07:41:42Z</dcterms:modified>
</cp:coreProperties>
</file>