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jp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3" /><Relationship Type="http://schemas.openxmlformats.org/officeDocument/2006/relationships/tableStyles" Target="/ppt/tableStyles.xml" Id="rId7" /><Relationship Type="http://schemas.openxmlformats.org/officeDocument/2006/relationships/slide" Target="/ppt/slides/slide1.xml" Id="rId2" /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6" /><Relationship Type="http://schemas.openxmlformats.org/officeDocument/2006/relationships/viewProps" Target="/ppt/viewProps.xml" Id="rId5" /><Relationship Type="http://schemas.openxmlformats.org/officeDocument/2006/relationships/presProps" Target="/ppt/presProps.xml" Id="rI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A478A5-8425-4DA4-B81D-E1DE11FEB95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3CBD17-6074-4B9C-A82C-AAF5ACD40D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043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71502a4ebc_2_2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g371502a4ebc_2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1"/>
          <p:cNvSpPr>
            <a:spLocks noGrp="1"/>
          </p:cNvSpPr>
          <p:nvPr>
            <p:ph type="pic" idx="2"/>
          </p:nvPr>
        </p:nvSpPr>
        <p:spPr>
          <a:xfrm>
            <a:off x="5500913" y="-1"/>
            <a:ext cx="6691200" cy="68580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515639322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3" /><Relationship Type="http://schemas.openxmlformats.org/officeDocument/2006/relationships/slideLayout" Target="/ppt/slideLayouts/slideLayout12.xml" Id="rId12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7E9174-A5AF-4F61-82C1-18E69674C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C2A5D7-62B0-453D-939A-90BA8AC6E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EEA1E-0749-40FC-98B8-1B69F89B62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D8ABFB-B1B9-4A9F-AF06-DF302E723DE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8A7B2-8D85-48AA-9748-F91B350525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32AF6-F7E9-4492-90A4-4D606B57A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6AEF93-8D2E-4E14-B423-49CAC975A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254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1.jpg" Id="rId3" /><Relationship Type="http://schemas.openxmlformats.org/officeDocument/2006/relationships/notesSlide" Target="/ppt/notesSlides/notesSlide1.xml" Id="rId2" /><Relationship Type="http://schemas.openxmlformats.org/officeDocument/2006/relationships/slideLayout" Target="/ppt/slideLayouts/slideLayout12.xml" Id="rId1" /><Relationship Type="http://schemas.openxmlformats.org/officeDocument/2006/relationships/image" Target="/ppt/media/image2.png" Id="rId4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A38063-3539-329E-1E85-C23C62165D7A}"/>
              </a:ext>
            </a:extLst>
          </p:cNvPr>
          <p:cNvSpPr/>
          <p:nvPr/>
        </p:nvSpPr>
        <p:spPr>
          <a:xfrm>
            <a:off x="0" y="1"/>
            <a:ext cx="8087360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pic>
        <p:nvPicPr>
          <p:cNvPr id="342" name="Google Shape;342;g371502a4ebc_2_259" title="WhatsApp Image 2025-07-24 at 16.30.45.jpeg"/>
          <p:cNvPicPr preferRelativeResize="0"/>
          <p:nvPr/>
        </p:nvPicPr>
        <p:blipFill rotWithShape="1">
          <a:blip r:embed="rId3">
            <a:alphaModFix/>
          </a:blip>
          <a:srcRect t="6077" b="36546"/>
          <a:stretch>
            <a:fillRect/>
          </a:stretch>
        </p:blipFill>
        <p:spPr>
          <a:xfrm>
            <a:off x="6694442" y="1"/>
            <a:ext cx="549755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326;g371502a4ebc_2_235">
            <a:extLst>
              <a:ext uri="{FF2B5EF4-FFF2-40B4-BE49-F238E27FC236}">
                <a16:creationId xmlns:a16="http://schemas.microsoft.com/office/drawing/2014/main" id="{F233A00D-4E7D-8DF9-CD34-A0064438B021}"/>
              </a:ext>
            </a:extLst>
          </p:cNvPr>
          <p:cNvSpPr txBox="1"/>
          <p:nvPr/>
        </p:nvSpPr>
        <p:spPr>
          <a:xfrm>
            <a:off x="2606011" y="2148294"/>
            <a:ext cx="2987964" cy="40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91433" rIns="91433" bIns="91433" anchor="t" anchorCtr="0">
            <a:spAutoFit/>
          </a:bodyPr>
          <a:lstStyle/>
          <a:p>
            <a:r>
              <a:rPr lang="en-GB" sz="1400" b="1" dirty="0">
                <a:solidFill>
                  <a:srgbClr val="2E3A90"/>
                </a:solidFill>
              </a:rPr>
              <a:t>@</a:t>
            </a:r>
            <a:r>
              <a:rPr lang="ro-RO" sz="1400" b="1" dirty="0">
                <a:solidFill>
                  <a:srgbClr val="2E3A90"/>
                </a:solidFill>
              </a:rPr>
              <a:t>D</a:t>
            </a:r>
            <a:r>
              <a:rPr lang="en-GB" sz="1400" b="1" dirty="0" err="1">
                <a:solidFill>
                  <a:srgbClr val="2E3A90"/>
                </a:solidFill>
              </a:rPr>
              <a:t>unarea</a:t>
            </a:r>
            <a:r>
              <a:rPr lang="ro-RO" sz="1400" b="1" dirty="0">
                <a:solidFill>
                  <a:srgbClr val="2E3A90"/>
                </a:solidFill>
              </a:rPr>
              <a:t>B</a:t>
            </a:r>
            <a:r>
              <a:rPr lang="en-GB" sz="1400" b="1" dirty="0" err="1">
                <a:solidFill>
                  <a:srgbClr val="2E3A90"/>
                </a:solidFill>
              </a:rPr>
              <a:t>raila</a:t>
            </a:r>
            <a:r>
              <a:rPr lang="ro-RO" sz="1400" b="1" dirty="0">
                <a:solidFill>
                  <a:srgbClr val="2E3A90"/>
                </a:solidFill>
              </a:rPr>
              <a:t>Handbal</a:t>
            </a:r>
            <a:endParaRPr sz="1400" b="1" dirty="0">
              <a:solidFill>
                <a:srgbClr val="2E3A90"/>
              </a:solidFill>
            </a:endParaRPr>
          </a:p>
        </p:txBody>
      </p:sp>
      <p:sp>
        <p:nvSpPr>
          <p:cNvPr id="6" name="Google Shape;291;g371502a4ebc_0_28">
            <a:extLst>
              <a:ext uri="{FF2B5EF4-FFF2-40B4-BE49-F238E27FC236}">
                <a16:creationId xmlns:a16="http://schemas.microsoft.com/office/drawing/2014/main" id="{CE073A3D-BEA2-1F97-C968-05A6A15EA83C}"/>
              </a:ext>
            </a:extLst>
          </p:cNvPr>
          <p:cNvSpPr txBox="1"/>
          <p:nvPr/>
        </p:nvSpPr>
        <p:spPr>
          <a:xfrm>
            <a:off x="528849" y="450153"/>
            <a:ext cx="4805001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-GB" sz="3600" i="1" dirty="0">
                <a:solidFill>
                  <a:srgbClr val="2E3A90"/>
                </a:solidFill>
                <a:latin typeface="Montserrat ExtraBold" panose="00000900000000000000" pitchFamily="50" charset="0"/>
                <a:ea typeface="Bebas Neue"/>
                <a:cs typeface="Bebas Neue"/>
                <a:sym typeface="Bebas Neue"/>
              </a:rPr>
              <a:t>REȚELE SOCIALE</a:t>
            </a:r>
            <a:endParaRPr sz="3600" i="1" dirty="0">
              <a:solidFill>
                <a:srgbClr val="2E3A90"/>
              </a:solidFill>
              <a:latin typeface="Montserrat ExtraBold" panose="00000900000000000000" pitchFamily="50" charset="0"/>
              <a:ea typeface="Bebas Neue"/>
              <a:cs typeface="Bebas Neue"/>
              <a:sym typeface="Bebas Neue"/>
            </a:endParaRPr>
          </a:p>
        </p:txBody>
      </p:sp>
      <p:sp>
        <p:nvSpPr>
          <p:cNvPr id="7" name="Google Shape;295;g371502a4ebc_0_28">
            <a:extLst>
              <a:ext uri="{FF2B5EF4-FFF2-40B4-BE49-F238E27FC236}">
                <a16:creationId xmlns:a16="http://schemas.microsoft.com/office/drawing/2014/main" id="{7F4E63C8-122C-D84E-0014-1C199D8BD981}"/>
              </a:ext>
            </a:extLst>
          </p:cNvPr>
          <p:cNvSpPr txBox="1"/>
          <p:nvPr/>
        </p:nvSpPr>
        <p:spPr>
          <a:xfrm>
            <a:off x="2636993" y="4122349"/>
            <a:ext cx="2109843" cy="4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-GB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La </a:t>
            </a:r>
            <a:r>
              <a:rPr lang="en-GB" sz="1067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începutul</a:t>
            </a:r>
            <a:r>
              <a:rPr lang="en-GB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GB" sz="1067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sezonului</a:t>
            </a:r>
            <a:r>
              <a:rPr lang="en-GB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 (</a:t>
            </a:r>
            <a:r>
              <a:rPr lang="en-GB" sz="1067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Septembrie</a:t>
            </a:r>
            <a:r>
              <a:rPr lang="en-GB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 2023)</a:t>
            </a:r>
            <a:endParaRPr sz="1067" dirty="0">
              <a:solidFill>
                <a:schemeClr val="tx1">
                  <a:lumMod val="75000"/>
                  <a:lumOff val="25000"/>
                </a:schemeClr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" name="Google Shape;297;g371502a4ebc_0_28">
            <a:extLst>
              <a:ext uri="{FF2B5EF4-FFF2-40B4-BE49-F238E27FC236}">
                <a16:creationId xmlns:a16="http://schemas.microsoft.com/office/drawing/2014/main" id="{D5B9E9ED-DA51-0966-6FBC-5324AEF05870}"/>
              </a:ext>
            </a:extLst>
          </p:cNvPr>
          <p:cNvSpPr txBox="1"/>
          <p:nvPr/>
        </p:nvSpPr>
        <p:spPr>
          <a:xfrm>
            <a:off x="528849" y="5364545"/>
            <a:ext cx="2030905" cy="720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>
              <a:lnSpc>
                <a:spcPct val="80000"/>
              </a:lnSpc>
            </a:pPr>
            <a:r>
              <a:rPr lang="ro-RO" sz="4000" dirty="0">
                <a:solidFill>
                  <a:srgbClr val="2E3A90"/>
                </a:solidFill>
                <a:latin typeface="Montserrat ExtraBold" pitchFamily="2" charset="0"/>
                <a:ea typeface="Bebas Neue"/>
                <a:cs typeface="Bebas Neue"/>
                <a:sym typeface="Bebas Neue"/>
              </a:rPr>
              <a:t>57.890</a:t>
            </a:r>
          </a:p>
          <a:p>
            <a:pPr>
              <a:lnSpc>
                <a:spcPct val="80000"/>
              </a:lnSpc>
            </a:pPr>
            <a:r>
              <a:rPr lang="ro-RO" sz="1100" dirty="0">
                <a:solidFill>
                  <a:srgbClr val="2E3A90"/>
                </a:solidFill>
                <a:latin typeface="Montserrat ExtraBold" pitchFamily="2" charset="0"/>
                <a:ea typeface="Roboto Medium"/>
                <a:cs typeface="Roboto Medium"/>
                <a:sym typeface="Roboto Medium"/>
              </a:rPr>
              <a:t>aprecieri</a:t>
            </a:r>
            <a:endParaRPr sz="1100" dirty="0">
              <a:solidFill>
                <a:srgbClr val="2E3A90"/>
              </a:solidFill>
              <a:latin typeface="Montserrat ExtraBold" pitchFamily="2" charset="0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0" name="Google Shape;298;g371502a4ebc_0_28">
            <a:extLst>
              <a:ext uri="{FF2B5EF4-FFF2-40B4-BE49-F238E27FC236}">
                <a16:creationId xmlns:a16="http://schemas.microsoft.com/office/drawing/2014/main" id="{AA31258D-B641-7890-5C96-7F3F8FCF65CF}"/>
              </a:ext>
            </a:extLst>
          </p:cNvPr>
          <p:cNvSpPr txBox="1"/>
          <p:nvPr/>
        </p:nvSpPr>
        <p:spPr>
          <a:xfrm>
            <a:off x="2636993" y="5493946"/>
            <a:ext cx="1093600" cy="256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ro-RO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August</a:t>
            </a:r>
            <a:r>
              <a:rPr lang="en-GB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 2025</a:t>
            </a:r>
            <a:endParaRPr sz="1067" dirty="0">
              <a:solidFill>
                <a:schemeClr val="tx1">
                  <a:lumMod val="75000"/>
                  <a:lumOff val="25000"/>
                </a:schemeClr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304;g371502a4ebc_0_28">
            <a:extLst>
              <a:ext uri="{FF2B5EF4-FFF2-40B4-BE49-F238E27FC236}">
                <a16:creationId xmlns:a16="http://schemas.microsoft.com/office/drawing/2014/main" id="{06635687-C88A-950D-7021-59640396502B}"/>
              </a:ext>
            </a:extLst>
          </p:cNvPr>
          <p:cNvSpPr txBox="1"/>
          <p:nvPr/>
        </p:nvSpPr>
        <p:spPr>
          <a:xfrm>
            <a:off x="534908" y="4075062"/>
            <a:ext cx="2049755" cy="720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lvl="0">
              <a:lnSpc>
                <a:spcPct val="80000"/>
              </a:lnSpc>
            </a:pPr>
            <a:r>
              <a:rPr lang="ro-RO" sz="4000" dirty="0">
                <a:solidFill>
                  <a:srgbClr val="2E3A90"/>
                </a:solidFill>
                <a:latin typeface="Montserrat ExtraBold" pitchFamily="2" charset="0"/>
                <a:ea typeface="Bebas Neue"/>
                <a:cs typeface="Bebas Neue"/>
                <a:sym typeface="Bebas Neue"/>
              </a:rPr>
              <a:t>3.141</a:t>
            </a:r>
          </a:p>
          <a:p>
            <a:pPr lvl="0">
              <a:lnSpc>
                <a:spcPct val="80000"/>
              </a:lnSpc>
            </a:pPr>
            <a:r>
              <a:rPr lang="en-GB" sz="1100" dirty="0" err="1">
                <a:solidFill>
                  <a:srgbClr val="2E3A90"/>
                </a:solidFill>
                <a:latin typeface="Montserrat ExtraBold" pitchFamily="2" charset="0"/>
                <a:ea typeface="Roboto Medium"/>
                <a:cs typeface="Roboto Medium"/>
                <a:sym typeface="Roboto Medium"/>
              </a:rPr>
              <a:t>urmăritori</a:t>
            </a:r>
            <a:endParaRPr sz="1100" dirty="0">
              <a:solidFill>
                <a:srgbClr val="2E3A9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4" name="Google Shape;303;g371502a4ebc_0_28">
            <a:extLst>
              <a:ext uri="{FF2B5EF4-FFF2-40B4-BE49-F238E27FC236}">
                <a16:creationId xmlns:a16="http://schemas.microsoft.com/office/drawing/2014/main" id="{CFD3B21C-6271-0618-E098-43553C259306}"/>
              </a:ext>
            </a:extLst>
          </p:cNvPr>
          <p:cNvSpPr txBox="1"/>
          <p:nvPr/>
        </p:nvSpPr>
        <p:spPr>
          <a:xfrm>
            <a:off x="2619813" y="1814529"/>
            <a:ext cx="3815200" cy="502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ro-RO" sz="2667" i="1" dirty="0">
                <a:solidFill>
                  <a:srgbClr val="2E3A90"/>
                </a:solidFill>
                <a:latin typeface="Montserrat ExtraBold" panose="00000900000000000000" pitchFamily="50" charset="0"/>
                <a:ea typeface="Bebas Neue"/>
                <a:cs typeface="Bebas Neue"/>
                <a:sym typeface="Bebas Neue"/>
              </a:rPr>
              <a:t>TIKTOK</a:t>
            </a:r>
            <a:endParaRPr sz="2667" i="1" dirty="0">
              <a:solidFill>
                <a:srgbClr val="2E3A90"/>
              </a:solidFill>
              <a:latin typeface="Montserrat ExtraBold" panose="00000900000000000000" pitchFamily="50" charset="0"/>
              <a:ea typeface="Bebas Neue"/>
              <a:cs typeface="Bebas Neue"/>
              <a:sym typeface="Bebas Neue"/>
            </a:endParaRPr>
          </a:p>
        </p:txBody>
      </p:sp>
      <p:sp>
        <p:nvSpPr>
          <p:cNvPr id="25" name="Google Shape;292;g371502a4ebc_0_28">
            <a:extLst>
              <a:ext uri="{FF2B5EF4-FFF2-40B4-BE49-F238E27FC236}">
                <a16:creationId xmlns:a16="http://schemas.microsoft.com/office/drawing/2014/main" id="{183129A1-ECC9-61F8-BEFB-7816CDFBBB91}"/>
              </a:ext>
            </a:extLst>
          </p:cNvPr>
          <p:cNvSpPr txBox="1"/>
          <p:nvPr/>
        </p:nvSpPr>
        <p:spPr>
          <a:xfrm>
            <a:off x="2623541" y="1581745"/>
            <a:ext cx="4037600" cy="33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067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Creșterea</a:t>
            </a:r>
            <a:r>
              <a:rPr lang="en-GB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GB" sz="1067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comunității</a:t>
            </a:r>
            <a:endParaRPr sz="1467" dirty="0">
              <a:solidFill>
                <a:schemeClr val="tx1">
                  <a:lumMod val="75000"/>
                  <a:lumOff val="25000"/>
                </a:schemeClr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pic>
        <p:nvPicPr>
          <p:cNvPr id="27" name="Picture 26" descr="A qr code with blue squares and squares&#10;&#10;AI-generated content may be incorrect.">
            <a:extLst>
              <a:ext uri="{FF2B5EF4-FFF2-40B4-BE49-F238E27FC236}">
                <a16:creationId xmlns:a16="http://schemas.microsoft.com/office/drawing/2014/main" id="{07275745-07D1-9BC3-644B-272A2270AC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467" y="1222342"/>
            <a:ext cx="1513311" cy="1513311"/>
          </a:xfrm>
          <a:prstGeom prst="rect">
            <a:avLst/>
          </a:prstGeom>
        </p:spPr>
      </p:pic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0D5D2F8A-03DF-8C07-C024-050EA39BAAC3}"/>
              </a:ext>
            </a:extLst>
          </p:cNvPr>
          <p:cNvSpPr/>
          <p:nvPr/>
        </p:nvSpPr>
        <p:spPr>
          <a:xfrm rot="5400000">
            <a:off x="11684682" y="3162539"/>
            <a:ext cx="364124" cy="168799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24</Words>
  <Application>Microsoft Office PowerPoint</Application>
  <PresentationFormat>Widescreen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Montserrat ExtraBold</vt:lpstr>
      <vt:lpstr>Roboto</vt:lpstr>
      <vt:lpstr>Roboto Black</vt:lpstr>
      <vt:lpstr>Roboto Medium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E-ProDesign</dc:creator>
  <cp:lastModifiedBy>E-ProDesign</cp:lastModifiedBy>
  <cp:revision>1</cp:revision>
  <dcterms:created xsi:type="dcterms:W3CDTF">2025-11-04T07:36:55Z</dcterms:created>
  <dcterms:modified xsi:type="dcterms:W3CDTF">2025-11-04T07:41:39Z</dcterms:modified>
</cp:coreProperties>
</file>