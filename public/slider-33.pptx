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AD481-88E7-4625-97FE-5F5D002E8B3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C1462-D1F0-4D5A-885C-27C0B6A7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8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71502a4ebc_0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g371502a4eb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0468283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24020-6E00-4B15-AABB-9E56F50B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71849-DE2C-4DBA-B13D-0DFFC9300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6A449-53BC-4679-A5B6-5168542E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46BA4-9E7A-4B9A-8CCD-E17CBF3EFEC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EF20E-5B12-4E3B-95FC-CB53AB124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BD37F-13AA-48D5-AED2-26EC1F628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1A963-4AD1-42BD-8A09-E22BEC606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5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g371502a4ebc_0_123" title="525459340_1316954910432637_7776852639979072991_n.jpg"/>
          <p:cNvPicPr preferRelativeResize="0"/>
          <p:nvPr/>
        </p:nvPicPr>
        <p:blipFill rotWithShape="1">
          <a:blip r:embed="rId3">
            <a:alphaModFix amt="80000"/>
          </a:blip>
          <a:srcRect b="15761"/>
          <a:stretch/>
        </p:blipFill>
        <p:spPr>
          <a:xfrm>
            <a:off x="-11462" y="0"/>
            <a:ext cx="122149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71502a4ebc_0_123"/>
          <p:cNvSpPr/>
          <p:nvPr/>
        </p:nvSpPr>
        <p:spPr>
          <a:xfrm>
            <a:off x="6042975" y="-52925"/>
            <a:ext cx="6168000" cy="6939200"/>
          </a:xfrm>
          <a:prstGeom prst="parallelogram">
            <a:avLst>
              <a:gd name="adj" fmla="val 49883"/>
            </a:avLst>
          </a:prstGeom>
          <a:solidFill>
            <a:schemeClr val="lt1">
              <a:alpha val="7840"/>
            </a:schemeClr>
          </a:solidFill>
          <a:ln>
            <a:noFill/>
          </a:ln>
        </p:spPr>
        <p:txBody>
          <a:bodyPr spcFirstLastPara="1" wrap="square" lIns="92500" tIns="46267" rIns="92500" bIns="46267" anchor="ctr" anchorCtr="0">
            <a:noAutofit/>
          </a:bodyPr>
          <a:lstStyle/>
          <a:p>
            <a:pPr algn="ctr"/>
            <a:endParaRPr sz="182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71502a4ebc_0_123"/>
          <p:cNvSpPr/>
          <p:nvPr/>
        </p:nvSpPr>
        <p:spPr>
          <a:xfrm>
            <a:off x="6867665" y="627"/>
            <a:ext cx="6349200" cy="7022000"/>
          </a:xfrm>
          <a:prstGeom prst="parallelogram">
            <a:avLst>
              <a:gd name="adj" fmla="val 49883"/>
            </a:avLst>
          </a:prstGeom>
          <a:solidFill>
            <a:schemeClr val="lt1">
              <a:alpha val="1960"/>
            </a:schemeClr>
          </a:solidFill>
          <a:ln>
            <a:noFill/>
          </a:ln>
        </p:spPr>
        <p:txBody>
          <a:bodyPr spcFirstLastPara="1" wrap="square" lIns="92500" tIns="46267" rIns="92500" bIns="46267" anchor="ctr" anchorCtr="0">
            <a:noAutofit/>
          </a:bodyPr>
          <a:lstStyle/>
          <a:p>
            <a:pPr algn="ctr"/>
            <a:endParaRPr sz="182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71502a4ebc_0_123"/>
          <p:cNvSpPr txBox="1"/>
          <p:nvPr/>
        </p:nvSpPr>
        <p:spPr>
          <a:xfrm>
            <a:off x="674324" y="1472226"/>
            <a:ext cx="8039241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4500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OBIECTIVE COMPETIȚIONALE</a:t>
            </a:r>
            <a:r>
              <a:rPr lang="en-GB" sz="3600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 </a:t>
            </a:r>
          </a:p>
          <a:p>
            <a:r>
              <a:rPr lang="en-GB" sz="1600" b="1" dirty="0" err="1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Sezon</a:t>
            </a:r>
            <a:r>
              <a:rPr lang="en-GB" sz="1600" b="1" dirty="0">
                <a:solidFill>
                  <a:schemeClr val="lt1"/>
                </a:solidFill>
                <a:latin typeface="Montserrat Medium" panose="00000600000000000000" pitchFamily="50" charset="0"/>
                <a:ea typeface="Bebas Neue"/>
                <a:cs typeface="Bebas Neue"/>
                <a:sym typeface="Bebas Neue"/>
              </a:rPr>
              <a:t> 2025/2026</a:t>
            </a:r>
            <a:endParaRPr sz="1600" b="1" dirty="0">
              <a:solidFill>
                <a:schemeClr val="lt1"/>
              </a:solidFill>
              <a:latin typeface="Montserrat Medium" panose="000006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484" name="Google Shape;484;g371502a4ebc_0_123"/>
          <p:cNvSpPr txBox="1"/>
          <p:nvPr/>
        </p:nvSpPr>
        <p:spPr>
          <a:xfrm>
            <a:off x="674325" y="3996289"/>
            <a:ext cx="6099008" cy="9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Pentru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sezonul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competițional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2025/2026, HC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Dunărea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Brăila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își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propune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să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accelereze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procesul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de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creștere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consolidare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vizând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atât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performanța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sportivă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de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elită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cât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dezvoltarea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durabilă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a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clubului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.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Strategia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noastră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este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construită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în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jurul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a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patru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piloni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fundamentali</a:t>
            </a:r>
            <a:r>
              <a:rPr lang="en-GB" sz="1467" dirty="0">
                <a:solidFill>
                  <a:schemeClr val="lt1"/>
                </a:solidFill>
                <a:latin typeface="+mj-lt"/>
                <a:ea typeface="Roboto" panose="02000000000000000000" pitchFamily="2" charset="0"/>
                <a:cs typeface="Roboto"/>
                <a:sym typeface="Roboto"/>
              </a:rPr>
              <a:t>:</a:t>
            </a:r>
            <a:endParaRPr sz="2400" dirty="0">
              <a:solidFill>
                <a:schemeClr val="lt1"/>
              </a:solidFill>
              <a:latin typeface="+mj-lt"/>
              <a:ea typeface="Roboto" panose="02000000000000000000" pitchFamily="2" charset="0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A132A1A9-DABC-CF5B-E00E-549652EDE61A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 ExtraBold</vt:lpstr>
      <vt:lpstr>Montserrat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2025-11-04T07:39:28Z</dcterms:created>
  <dcterms:modified xsi:type="dcterms:W3CDTF">2025-11-04T07:39:30Z</dcterms:modified>
</cp:coreProperties>
</file>