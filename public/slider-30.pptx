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3" /><Relationship Type="http://schemas.openxmlformats.org/package/2006/relationships/metadata/thumbnail" Target="/docProps/thumbnail.jpeg" Id="rId2" /><Relationship Type="http://schemas.openxmlformats.org/officeDocument/2006/relationships/officeDocument" Target="/ppt/presentation.xml" Id="rId1" /><Relationship Type="http://schemas.openxmlformats.org/officeDocument/2006/relationships/extended-properties" Target="/docProps/app.xml" Id="rId4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9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86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3" /><Relationship Type="http://schemas.openxmlformats.org/officeDocument/2006/relationships/tableStyles" Target="/ppt/tableStyles.xml" Id="rId7" /><Relationship Type="http://schemas.openxmlformats.org/officeDocument/2006/relationships/slide" Target="/ppt/slides/slide1.xml" Id="rId2" /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6" /><Relationship Type="http://schemas.openxmlformats.org/officeDocument/2006/relationships/viewProps" Target="/ppt/viewProps.xml" Id="rId5" /><Relationship Type="http://schemas.openxmlformats.org/officeDocument/2006/relationships/presProps" Target="/ppt/presProps.xml" Id="rI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theme/theme2.xml" Id="rId1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7F90AD-B452-4450-84E7-C807C162113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ED1618-70DC-4ABE-863C-036DECD5B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445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Id2" /><Relationship Type="http://schemas.openxmlformats.org/officeDocument/2006/relationships/notesMaster" Target="/ppt/notesMasters/notesMaster1.xml" Id="rId1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>
          <a:extLst>
            <a:ext uri="{FF2B5EF4-FFF2-40B4-BE49-F238E27FC236}">
              <a16:creationId xmlns:a16="http://schemas.microsoft.com/office/drawing/2014/main" id="{8FE120DF-E38A-6970-612A-A4ECE8183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71ca5ae623_0_62:notes">
            <a:extLst>
              <a:ext uri="{FF2B5EF4-FFF2-40B4-BE49-F238E27FC236}">
                <a16:creationId xmlns:a16="http://schemas.microsoft.com/office/drawing/2014/main" id="{FF2CDFCB-B384-8B36-4CF1-B860CA996E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371ca5ae623_0_62:notes">
            <a:extLst>
              <a:ext uri="{FF2B5EF4-FFF2-40B4-BE49-F238E27FC236}">
                <a16:creationId xmlns:a16="http://schemas.microsoft.com/office/drawing/2014/main" id="{854E965F-B266-5B2C-5A3B-6C1248C4D7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42" name="Google Shape;442;g371ca5ae623_0_62:notes">
            <a:extLst>
              <a:ext uri="{FF2B5EF4-FFF2-40B4-BE49-F238E27FC236}">
                <a16:creationId xmlns:a16="http://schemas.microsoft.com/office/drawing/2014/main" id="{B4CADBDB-5D8A-8748-2FE7-17EB4EB0700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59801916"/>
      </p:ext>
    </p:extLst>
  </p:cSld>
  <p:clrMapOvr>
    <a:masterClrMapping/>
  </p:clrMapOvr>
</p:note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Title Slide">
  <p:cSld name="8_Title Slide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3"/>
          <p:cNvSpPr>
            <a:spLocks noGrp="1"/>
          </p:cNvSpPr>
          <p:nvPr>
            <p:ph type="pic" idx="2"/>
          </p:nvPr>
        </p:nvSpPr>
        <p:spPr>
          <a:xfrm>
            <a:off x="5618703" y="1133777"/>
            <a:ext cx="1820400" cy="1775600"/>
          </a:xfrm>
          <a:prstGeom prst="rect">
            <a:avLst/>
          </a:prstGeom>
          <a:solidFill>
            <a:srgbClr val="FFECCC"/>
          </a:solidFill>
          <a:ln>
            <a:noFill/>
          </a:ln>
        </p:spPr>
      </p:sp>
      <p:sp>
        <p:nvSpPr>
          <p:cNvPr id="33" name="Google Shape;33;p23"/>
          <p:cNvSpPr>
            <a:spLocks noGrp="1"/>
          </p:cNvSpPr>
          <p:nvPr>
            <p:ph type="pic" idx="3"/>
          </p:nvPr>
        </p:nvSpPr>
        <p:spPr>
          <a:xfrm>
            <a:off x="7591133" y="1133777"/>
            <a:ext cx="1820400" cy="1775600"/>
          </a:xfrm>
          <a:prstGeom prst="rect">
            <a:avLst/>
          </a:prstGeom>
          <a:solidFill>
            <a:srgbClr val="FFECCC"/>
          </a:solidFill>
          <a:ln>
            <a:noFill/>
          </a:ln>
        </p:spPr>
      </p:sp>
      <p:sp>
        <p:nvSpPr>
          <p:cNvPr id="34" name="Google Shape;34;p23"/>
          <p:cNvSpPr>
            <a:spLocks noGrp="1"/>
          </p:cNvSpPr>
          <p:nvPr>
            <p:ph type="pic" idx="4"/>
          </p:nvPr>
        </p:nvSpPr>
        <p:spPr>
          <a:xfrm>
            <a:off x="9528312" y="1133777"/>
            <a:ext cx="1820400" cy="1775600"/>
          </a:xfrm>
          <a:prstGeom prst="rect">
            <a:avLst/>
          </a:prstGeom>
          <a:solidFill>
            <a:srgbClr val="FFECCC"/>
          </a:solidFill>
          <a:ln>
            <a:noFill/>
          </a:ln>
        </p:spPr>
      </p:sp>
      <p:sp>
        <p:nvSpPr>
          <p:cNvPr id="35" name="Google Shape;35;p23"/>
          <p:cNvSpPr>
            <a:spLocks noGrp="1"/>
          </p:cNvSpPr>
          <p:nvPr>
            <p:ph type="pic" idx="5"/>
          </p:nvPr>
        </p:nvSpPr>
        <p:spPr>
          <a:xfrm>
            <a:off x="5618703" y="3818932"/>
            <a:ext cx="1820400" cy="1775600"/>
          </a:xfrm>
          <a:prstGeom prst="rect">
            <a:avLst/>
          </a:prstGeom>
          <a:solidFill>
            <a:srgbClr val="FFECCC"/>
          </a:solidFill>
          <a:ln>
            <a:noFill/>
          </a:ln>
        </p:spPr>
      </p:sp>
      <p:sp>
        <p:nvSpPr>
          <p:cNvPr id="36" name="Google Shape;36;p23"/>
          <p:cNvSpPr>
            <a:spLocks noGrp="1"/>
          </p:cNvSpPr>
          <p:nvPr>
            <p:ph type="pic" idx="6"/>
          </p:nvPr>
        </p:nvSpPr>
        <p:spPr>
          <a:xfrm>
            <a:off x="7591133" y="3818932"/>
            <a:ext cx="1820400" cy="1775600"/>
          </a:xfrm>
          <a:prstGeom prst="rect">
            <a:avLst/>
          </a:prstGeom>
          <a:solidFill>
            <a:srgbClr val="FFECCC"/>
          </a:solidFill>
          <a:ln>
            <a:noFill/>
          </a:ln>
        </p:spPr>
      </p:sp>
      <p:sp>
        <p:nvSpPr>
          <p:cNvPr id="37" name="Google Shape;37;p23"/>
          <p:cNvSpPr>
            <a:spLocks noGrp="1"/>
          </p:cNvSpPr>
          <p:nvPr>
            <p:ph type="pic" idx="7"/>
          </p:nvPr>
        </p:nvSpPr>
        <p:spPr>
          <a:xfrm>
            <a:off x="9528312" y="3818932"/>
            <a:ext cx="1820400" cy="1775600"/>
          </a:xfrm>
          <a:prstGeom prst="rect">
            <a:avLst/>
          </a:prstGeom>
          <a:solidFill>
            <a:srgbClr val="FFECCC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947447795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Id13" /><Relationship Type="http://schemas.openxmlformats.org/officeDocument/2006/relationships/slideLayout" Target="/ppt/slideLayouts/slideLayout12.xml" Id="rId12" /></Relationships>
</file>

<file path=ppt/slideMasters/slideMaster1.xml><?xml version="1.0" encoding="utf-8"?>
<p:sldMaster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54DE61-01FC-4822-ADC8-3F61DE8D7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C51DBE-A670-4D8D-BF04-CC4B3BE0B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401331-13E5-4E4C-844A-8884E27E61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733335-D26E-4BFF-B9A7-DD6495562BB0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7CFE3-FB3F-4269-B87B-AB2B8A41D0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8837C-04AC-4223-959E-58F1A50045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39CEFC-9F32-407B-9983-4C2D89CA2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707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1.png" Id="rId3" /><Relationship Type="http://schemas.openxmlformats.org/officeDocument/2006/relationships/notesSlide" Target="/ppt/notesSlides/notesSlide1.xml" Id="rId2" /><Relationship Type="http://schemas.openxmlformats.org/officeDocument/2006/relationships/slideLayout" Target="/ppt/slideLayouts/slideLayout12.xml" Id="rId1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>
          <a:extLst>
            <a:ext uri="{FF2B5EF4-FFF2-40B4-BE49-F238E27FC236}">
              <a16:creationId xmlns:a16="http://schemas.microsoft.com/office/drawing/2014/main" id="{A86F0C95-EADC-A766-F597-7C89393BF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817914EF-F684-C48D-3E60-B45B5A48C7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32" t="4126" r="2162"/>
          <a:stretch>
            <a:fillRect/>
          </a:stretch>
        </p:blipFill>
        <p:spPr>
          <a:xfrm>
            <a:off x="0" y="1"/>
            <a:ext cx="12239413" cy="6925732"/>
          </a:xfrm>
          <a:prstGeom prst="rect">
            <a:avLst/>
          </a:prstGeom>
        </p:spPr>
      </p:pic>
      <p:sp>
        <p:nvSpPr>
          <p:cNvPr id="453" name="Google Shape;453;g371ca5ae623_0_62">
            <a:extLst>
              <a:ext uri="{FF2B5EF4-FFF2-40B4-BE49-F238E27FC236}">
                <a16:creationId xmlns:a16="http://schemas.microsoft.com/office/drawing/2014/main" id="{A85810F1-03DB-A817-61F8-649FD0C2FE3B}"/>
              </a:ext>
            </a:extLst>
          </p:cNvPr>
          <p:cNvSpPr txBox="1"/>
          <p:nvPr/>
        </p:nvSpPr>
        <p:spPr>
          <a:xfrm>
            <a:off x="273457" y="5009938"/>
            <a:ext cx="4787471" cy="1810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91433" rIns="91433" bIns="91433" anchor="t" anchorCtr="0">
            <a:spAutoFit/>
          </a:bodyPr>
          <a:lstStyle/>
          <a:p>
            <a:pPr>
              <a:spcBef>
                <a:spcPts val="1400"/>
              </a:spcBef>
            </a:pPr>
            <a:r>
              <a:rPr lang="it-IT" sz="1333" b="1" dirty="0">
                <a:solidFill>
                  <a:schemeClr val="lt1"/>
                </a:solidFill>
                <a:latin typeface="Montserrat SemiBold" panose="00000700000000000000" pitchFamily="50" charset="0"/>
                <a:ea typeface="Roboto"/>
                <a:cs typeface="Roboto"/>
                <a:sym typeface="Roboto"/>
              </a:rPr>
              <a:t>🤝 2. ASOCIERE CU VALORILE SPORTULUI</a:t>
            </a:r>
          </a:p>
          <a:p>
            <a:pPr marL="457189" indent="-279393">
              <a:spcBef>
                <a:spcPts val="1200"/>
              </a:spcBef>
              <a:buClr>
                <a:schemeClr val="lt1"/>
              </a:buClr>
              <a:buSzPts val="600"/>
              <a:buFont typeface="Roboto"/>
              <a:buChar char="●"/>
            </a:pP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Imagine 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pozitivă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: 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disciplină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, 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performanță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, spirit de 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echipă</a:t>
            </a:r>
            <a:b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</a:br>
            <a:endParaRPr sz="1200" dirty="0">
              <a:solidFill>
                <a:schemeClr val="lt1"/>
              </a:solidFill>
              <a:latin typeface="+mj-lt"/>
              <a:ea typeface="Roboto"/>
              <a:cs typeface="Roboto"/>
              <a:sym typeface="Roboto"/>
            </a:endParaRPr>
          </a:p>
          <a:p>
            <a:pPr marL="457189" indent="-279393">
              <a:buClr>
                <a:schemeClr val="lt1"/>
              </a:buClr>
              <a:buSzPts val="600"/>
              <a:buFont typeface="Roboto"/>
              <a:buChar char="●"/>
            </a:pP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Branding 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emoțional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: 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susținerea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sportului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feminin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și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local</a:t>
            </a:r>
            <a:b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</a:br>
            <a:endParaRPr sz="1200" dirty="0">
              <a:solidFill>
                <a:schemeClr val="lt1"/>
              </a:solidFill>
              <a:latin typeface="+mj-lt"/>
              <a:ea typeface="Roboto"/>
              <a:cs typeface="Roboto"/>
              <a:sym typeface="Roboto"/>
            </a:endParaRPr>
          </a:p>
          <a:p>
            <a:pPr marL="457189" indent="-273043">
              <a:buClr>
                <a:schemeClr val="lt1"/>
              </a:buClr>
              <a:buSzPts val="525"/>
              <a:buFont typeface="Roboto"/>
              <a:buChar char="●"/>
            </a:pP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Reputație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crescută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în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comunitate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și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la 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nivel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regional</a:t>
            </a:r>
            <a:br>
              <a:rPr lang="en-GB" sz="1067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</a:br>
            <a:endParaRPr sz="1067" b="1" dirty="0">
              <a:solidFill>
                <a:schemeClr val="lt1"/>
              </a:solidFill>
              <a:latin typeface="+mj-lt"/>
              <a:ea typeface="Roboto"/>
              <a:cs typeface="Roboto"/>
              <a:sym typeface="Roboto"/>
            </a:endParaRPr>
          </a:p>
        </p:txBody>
      </p:sp>
      <p:sp>
        <p:nvSpPr>
          <p:cNvPr id="454" name="Google Shape;454;g371ca5ae623_0_62">
            <a:extLst>
              <a:ext uri="{FF2B5EF4-FFF2-40B4-BE49-F238E27FC236}">
                <a16:creationId xmlns:a16="http://schemas.microsoft.com/office/drawing/2014/main" id="{1192B4B0-58E5-E333-6717-93C1981A675C}"/>
              </a:ext>
            </a:extLst>
          </p:cNvPr>
          <p:cNvSpPr txBox="1"/>
          <p:nvPr/>
        </p:nvSpPr>
        <p:spPr>
          <a:xfrm>
            <a:off x="7267867" y="2846010"/>
            <a:ext cx="4815760" cy="1831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91433" rIns="91433" bIns="91433" anchor="t" anchorCtr="0">
            <a:spAutoFit/>
          </a:bodyPr>
          <a:lstStyle/>
          <a:p>
            <a:pPr>
              <a:spcBef>
                <a:spcPts val="1400"/>
              </a:spcBef>
            </a:pPr>
            <a:r>
              <a:rPr lang="en-GB" sz="1333" b="1" dirty="0">
                <a:solidFill>
                  <a:schemeClr val="lt1"/>
                </a:solidFill>
                <a:latin typeface="Montserrat SemiBold" panose="00000700000000000000" pitchFamily="50" charset="0"/>
                <a:ea typeface="Roboto"/>
                <a:cs typeface="Roboto"/>
                <a:sym typeface="Roboto"/>
              </a:rPr>
              <a:t>🌐 3. PREZENȚĂ ONLINE ȘI SOCIAL MEDIA</a:t>
            </a:r>
          </a:p>
          <a:p>
            <a:pPr marL="457189" indent="-279393">
              <a:spcBef>
                <a:spcPts val="1200"/>
              </a:spcBef>
              <a:buClr>
                <a:schemeClr val="lt1"/>
              </a:buClr>
              <a:buSzPts val="600"/>
              <a:buFont typeface="Roboto"/>
              <a:buChar char="●"/>
            </a:pP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Promovare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pe 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canalele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oficiale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ale 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clubului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(Facebook, Instagram, site web</a:t>
            </a:r>
            <a:r>
              <a:rPr lang="ro-RO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, </a:t>
            </a:r>
            <a:r>
              <a:rPr lang="ro-RO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Tik</a:t>
            </a:r>
            <a:r>
              <a:rPr lang="ro-RO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Tok și </a:t>
            </a:r>
            <a:r>
              <a:rPr lang="ro-RO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Youtube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)</a:t>
            </a:r>
            <a:b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</a:br>
            <a:endParaRPr sz="1200" dirty="0">
              <a:solidFill>
                <a:schemeClr val="lt1"/>
              </a:solidFill>
              <a:latin typeface="+mj-lt"/>
              <a:ea typeface="Roboto"/>
              <a:cs typeface="Roboto"/>
              <a:sym typeface="Roboto"/>
            </a:endParaRPr>
          </a:p>
          <a:p>
            <a:pPr marL="457189" indent="-279393">
              <a:buClr>
                <a:schemeClr val="lt1"/>
              </a:buClr>
              <a:buSzPts val="600"/>
              <a:buFont typeface="Roboto"/>
              <a:buChar char="●"/>
            </a:pP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Campanii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dedicate („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Partenerul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meciului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”, „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Sponsorul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lunii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”)</a:t>
            </a:r>
            <a:b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</a:br>
            <a:endParaRPr sz="1200" dirty="0">
              <a:solidFill>
                <a:schemeClr val="lt1"/>
              </a:solidFill>
              <a:latin typeface="+mj-lt"/>
              <a:ea typeface="Roboto"/>
              <a:cs typeface="Roboto"/>
              <a:sym typeface="Roboto"/>
            </a:endParaRPr>
          </a:p>
          <a:p>
            <a:pPr marL="457189" indent="-279393">
              <a:buClr>
                <a:schemeClr val="lt1"/>
              </a:buClr>
              <a:buSzPts val="600"/>
              <a:buFont typeface="Roboto"/>
              <a:buChar char="●"/>
            </a:pP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Tag-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uri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, 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partajări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și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conținut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vizual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cu impact mare 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în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comunitate</a:t>
            </a:r>
            <a:endParaRPr sz="1200" b="1" dirty="0">
              <a:solidFill>
                <a:schemeClr val="lt1"/>
              </a:solidFill>
              <a:latin typeface="+mj-lt"/>
              <a:ea typeface="Roboto"/>
              <a:cs typeface="Roboto"/>
              <a:sym typeface="Roboto"/>
            </a:endParaRPr>
          </a:p>
        </p:txBody>
      </p:sp>
      <p:sp>
        <p:nvSpPr>
          <p:cNvPr id="455" name="Google Shape;455;g371ca5ae623_0_62">
            <a:extLst>
              <a:ext uri="{FF2B5EF4-FFF2-40B4-BE49-F238E27FC236}">
                <a16:creationId xmlns:a16="http://schemas.microsoft.com/office/drawing/2014/main" id="{BB47D71A-EFD0-113B-C13C-9728C6D69715}"/>
              </a:ext>
            </a:extLst>
          </p:cNvPr>
          <p:cNvSpPr txBox="1"/>
          <p:nvPr/>
        </p:nvSpPr>
        <p:spPr>
          <a:xfrm>
            <a:off x="7393296" y="4870482"/>
            <a:ext cx="4690331" cy="1861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91433" rIns="91433" bIns="91433" anchor="t" anchorCtr="0">
            <a:spAutoFit/>
          </a:bodyPr>
          <a:lstStyle/>
          <a:p>
            <a:pPr>
              <a:lnSpc>
                <a:spcPct val="115000"/>
              </a:lnSpc>
              <a:spcBef>
                <a:spcPts val="1400"/>
              </a:spcBef>
            </a:pPr>
            <a:r>
              <a:rPr lang="en-GB" sz="1333" b="1" dirty="0">
                <a:solidFill>
                  <a:schemeClr val="lt1"/>
                </a:solidFill>
                <a:latin typeface="Montserrat SemiBold" panose="00000700000000000000" pitchFamily="50" charset="0"/>
                <a:ea typeface="Roboto"/>
                <a:cs typeface="Roboto"/>
                <a:sym typeface="Roboto"/>
              </a:rPr>
              <a:t>🎟️ 4. ACCES LA EVENIMENTE &amp; MECIURI</a:t>
            </a:r>
          </a:p>
          <a:p>
            <a:pPr marL="457189" indent="-279393">
              <a:spcBef>
                <a:spcPts val="1200"/>
              </a:spcBef>
              <a:buClr>
                <a:schemeClr val="lt1"/>
              </a:buClr>
              <a:buSzPts val="600"/>
              <a:buFont typeface="Roboto"/>
              <a:buChar char="●"/>
            </a:pP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Invitarea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la 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meciuri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oficiale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(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locuri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rezervate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VIP)</a:t>
            </a:r>
            <a:b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</a:br>
            <a:endParaRPr sz="1200" dirty="0">
              <a:solidFill>
                <a:schemeClr val="lt1"/>
              </a:solidFill>
              <a:latin typeface="+mj-lt"/>
              <a:ea typeface="Roboto"/>
              <a:cs typeface="Roboto"/>
              <a:sym typeface="Roboto"/>
            </a:endParaRPr>
          </a:p>
          <a:p>
            <a:pPr marL="457189" indent="-279393">
              <a:buClr>
                <a:schemeClr val="lt1"/>
              </a:buClr>
              <a:buSzPts val="600"/>
              <a:buFont typeface="Roboto"/>
              <a:buChar char="●"/>
            </a:pP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Posibilitatea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de a 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organiza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activări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în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sală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(sampling, 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tombole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, 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standuri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)</a:t>
            </a:r>
            <a:b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</a:br>
            <a:endParaRPr sz="1200" dirty="0">
              <a:solidFill>
                <a:schemeClr val="lt1"/>
              </a:solidFill>
              <a:latin typeface="+mj-lt"/>
              <a:ea typeface="Roboto"/>
              <a:cs typeface="Roboto"/>
              <a:sym typeface="Roboto"/>
            </a:endParaRPr>
          </a:p>
          <a:p>
            <a:pPr marL="457189" indent="-279393">
              <a:buClr>
                <a:schemeClr val="lt1"/>
              </a:buClr>
              <a:buSzPts val="600"/>
              <a:buFont typeface="Roboto"/>
              <a:buChar char="●"/>
            </a:pP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Networking cu 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alți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parteneri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, 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reprezentanți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media 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sau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autorități</a:t>
            </a:r>
            <a:endParaRPr sz="1200" b="1" dirty="0">
              <a:solidFill>
                <a:schemeClr val="lt1"/>
              </a:solidFill>
              <a:latin typeface="+mj-lt"/>
              <a:ea typeface="Roboto"/>
              <a:cs typeface="Roboto"/>
              <a:sym typeface="Roboto"/>
            </a:endParaRPr>
          </a:p>
        </p:txBody>
      </p:sp>
      <p:sp>
        <p:nvSpPr>
          <p:cNvPr id="4" name="Google Shape;452;g371ca5ae623_0_62">
            <a:extLst>
              <a:ext uri="{FF2B5EF4-FFF2-40B4-BE49-F238E27FC236}">
                <a16:creationId xmlns:a16="http://schemas.microsoft.com/office/drawing/2014/main" id="{FA439F1D-4779-67A9-BD2E-347F632F087B}"/>
              </a:ext>
            </a:extLst>
          </p:cNvPr>
          <p:cNvSpPr txBox="1"/>
          <p:nvPr/>
        </p:nvSpPr>
        <p:spPr>
          <a:xfrm>
            <a:off x="273456" y="2073649"/>
            <a:ext cx="5070704" cy="2569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91433" rIns="91433" bIns="91433" anchor="t" anchorCtr="0">
            <a:spAutoFit/>
          </a:bodyPr>
          <a:lstStyle/>
          <a:p>
            <a:pPr>
              <a:spcBef>
                <a:spcPts val="1400"/>
              </a:spcBef>
            </a:pPr>
            <a:r>
              <a:rPr lang="it-IT" sz="1333" b="1" dirty="0">
                <a:solidFill>
                  <a:schemeClr val="lt1"/>
                </a:solidFill>
                <a:latin typeface="Montserrat SemiBold" panose="00000700000000000000" pitchFamily="50" charset="0"/>
                <a:ea typeface="Roboto"/>
                <a:cs typeface="Roboto"/>
                <a:sym typeface="Roboto"/>
              </a:rPr>
              <a:t>🎯 1. VIZIBILITATE MEDIA ȘI ÎN SALĂ</a:t>
            </a:r>
          </a:p>
          <a:p>
            <a:pPr marL="457189" indent="-279393">
              <a:spcBef>
                <a:spcPts val="1200"/>
              </a:spcBef>
              <a:buClr>
                <a:schemeClr val="lt1"/>
              </a:buClr>
              <a:buSzPts val="600"/>
              <a:buFont typeface="Roboto"/>
              <a:buChar char="●"/>
            </a:pP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Logo-ul pe 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echipamentele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de 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joc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(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tricouri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, 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treninguri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)</a:t>
            </a:r>
            <a:b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</a:br>
            <a:endParaRPr sz="1200" dirty="0">
              <a:solidFill>
                <a:schemeClr val="lt1"/>
              </a:solidFill>
              <a:latin typeface="+mj-lt"/>
              <a:ea typeface="Roboto"/>
              <a:cs typeface="Roboto"/>
              <a:sym typeface="Roboto"/>
            </a:endParaRPr>
          </a:p>
          <a:p>
            <a:pPr marL="457189" indent="-279393">
              <a:buClr>
                <a:schemeClr val="lt1"/>
              </a:buClr>
              <a:buSzPts val="600"/>
              <a:buFont typeface="Roboto"/>
              <a:buChar char="●"/>
            </a:pP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Panouri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publicitare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în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sală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(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bannere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LED / fixe)</a:t>
            </a:r>
            <a:b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</a:br>
            <a:endParaRPr sz="1200" dirty="0">
              <a:solidFill>
                <a:schemeClr val="lt1"/>
              </a:solidFill>
              <a:latin typeface="+mj-lt"/>
              <a:ea typeface="Roboto"/>
              <a:cs typeface="Roboto"/>
              <a:sym typeface="Roboto"/>
            </a:endParaRPr>
          </a:p>
          <a:p>
            <a:pPr marL="457189" indent="-279393">
              <a:buClr>
                <a:schemeClr val="lt1"/>
              </a:buClr>
              <a:buSzPts val="600"/>
              <a:buFont typeface="Roboto"/>
              <a:buChar char="●"/>
            </a:pP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Menționare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în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transmisiuni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TV (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meciuri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televizate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pe TVR, Pro Arena etc.)</a:t>
            </a:r>
            <a:b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</a:br>
            <a:endParaRPr sz="1200" dirty="0">
              <a:solidFill>
                <a:schemeClr val="lt1"/>
              </a:solidFill>
              <a:latin typeface="+mj-lt"/>
              <a:ea typeface="Roboto"/>
              <a:cs typeface="Roboto"/>
              <a:sym typeface="Roboto"/>
            </a:endParaRPr>
          </a:p>
          <a:p>
            <a:pPr marL="457189" indent="-273043">
              <a:buClr>
                <a:schemeClr val="lt1"/>
              </a:buClr>
              <a:buSzPts val="525"/>
              <a:buFont typeface="Roboto"/>
              <a:buChar char="●"/>
            </a:pP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Expunere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în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materialele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video/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foto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pe social media, 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afișe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, 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pliante</a:t>
            </a:r>
            <a:endParaRPr lang="ro-RO" sz="1200" dirty="0">
              <a:solidFill>
                <a:schemeClr val="lt1"/>
              </a:solidFill>
              <a:latin typeface="+mj-lt"/>
              <a:ea typeface="Roboto"/>
              <a:cs typeface="Roboto"/>
              <a:sym typeface="Roboto"/>
            </a:endParaRPr>
          </a:p>
          <a:p>
            <a:pPr marL="457189" indent="-273043">
              <a:buClr>
                <a:schemeClr val="lt1"/>
              </a:buClr>
              <a:buSzPts val="525"/>
              <a:buFont typeface="Roboto"/>
              <a:buChar char="●"/>
            </a:pPr>
            <a:endParaRPr lang="ro-RO" sz="1200" dirty="0">
              <a:solidFill>
                <a:schemeClr val="lt1"/>
              </a:solidFill>
              <a:latin typeface="+mj-lt"/>
              <a:ea typeface="Roboto"/>
              <a:sym typeface="Roboto"/>
            </a:endParaRPr>
          </a:p>
          <a:p>
            <a:pPr marL="457189" indent="-273043">
              <a:buClr>
                <a:schemeClr val="lt1"/>
              </a:buClr>
              <a:buSzPts val="525"/>
              <a:buFont typeface="Roboto"/>
              <a:buChar char="●"/>
            </a:pPr>
            <a:r>
              <a:rPr lang="ro-RO" sz="1200" dirty="0">
                <a:solidFill>
                  <a:schemeClr val="bg1"/>
                </a:solidFill>
                <a:latin typeface="+mj-lt"/>
              </a:rPr>
              <a:t>Floor stickere cu logo-urile sponsorilor</a:t>
            </a:r>
            <a:endParaRPr sz="1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Isosceles Triangle 1">
            <a:extLst>
              <a:ext uri="{FF2B5EF4-FFF2-40B4-BE49-F238E27FC236}">
                <a16:creationId xmlns:a16="http://schemas.microsoft.com/office/drawing/2014/main" id="{50F9B441-69DF-5273-2394-6E710519E5FE}"/>
              </a:ext>
            </a:extLst>
          </p:cNvPr>
          <p:cNvSpPr/>
          <p:nvPr/>
        </p:nvSpPr>
        <p:spPr>
          <a:xfrm rot="5400000">
            <a:off x="11684682" y="3162539"/>
            <a:ext cx="364124" cy="168799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1694356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192</Words>
  <Application>Microsoft Office PowerPoint</Application>
  <PresentationFormat>Widescreen</PresentationFormat>
  <Paragraphs>20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Montserrat SemiBold</vt:lpstr>
      <vt:lpstr>Roboto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E-ProDesign</dc:creator>
  <cp:lastModifiedBy>E-ProDesign</cp:lastModifiedBy>
  <cp:revision>1</cp:revision>
  <dcterms:created xsi:type="dcterms:W3CDTF">2025-11-04T07:39:05Z</dcterms:created>
  <dcterms:modified xsi:type="dcterms:W3CDTF">2025-11-04T07:39:07Z</dcterms:modified>
</cp:coreProperties>
</file>