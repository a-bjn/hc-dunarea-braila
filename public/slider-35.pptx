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8E45E-A7B7-4DD8-BCE1-9131BCB89F12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DE6CD-309B-45C9-9E3A-2419A1964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07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1502a4ebc_4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g371502a4ebc_4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107298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67E78D-6C3E-43BD-90C1-1DF13BAD1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1898E-D63C-4F2B-BCF8-488786AB1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DEEEB-E1AA-488B-AD9B-546383BF65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483ED-7582-435A-8F44-D1F31603082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9FDD7-4DB2-4CD4-8C28-68C4170610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3E427-F09C-400D-8D30-81EAC645B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66916-835C-4AC5-9204-5F4761605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7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pn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g371502a4ebc_4_24" title="487859135_1194505999347445_2877257241354361546_n.jpg"/>
          <p:cNvPicPr preferRelativeResize="0"/>
          <p:nvPr/>
        </p:nvPicPr>
        <p:blipFill rotWithShape="1">
          <a:blip r:embed="rId3">
            <a:alphaModFix amt="60000"/>
          </a:blip>
          <a:srcRect t="7911" r="9380" b="15668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g371502a4ebc_4_24"/>
          <p:cNvSpPr txBox="1"/>
          <p:nvPr/>
        </p:nvSpPr>
        <p:spPr>
          <a:xfrm>
            <a:off x="6648525" y="4386443"/>
            <a:ext cx="5340275" cy="748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600" dirty="0">
                <a:solidFill>
                  <a:schemeClr val="lt1"/>
                </a:solidFill>
                <a:latin typeface="Montserrat Medium" panose="00000600000000000000" pitchFamily="50" charset="0"/>
                <a:ea typeface="Nirmala Text Semilight" panose="020B0402040204020203" pitchFamily="34" charset="0"/>
                <a:cs typeface="Nirmala Text Semilight" panose="020B0402040204020203" pitchFamily="34" charset="0"/>
                <a:sym typeface="Bebas Neue"/>
              </a:rPr>
              <a:t>REALIZAREA CAMPIONATULUI INTER-JUDEȚEAN </a:t>
            </a:r>
          </a:p>
          <a:p>
            <a:r>
              <a:rPr lang="en-GB" sz="2667" b="1" dirty="0">
                <a:solidFill>
                  <a:schemeClr val="lt1"/>
                </a:solidFill>
                <a:latin typeface="Montserrat Medium" panose="00000600000000000000" pitchFamily="50" charset="0"/>
                <a:ea typeface="Nirmala Text Semilight" panose="020B0402040204020203" pitchFamily="34" charset="0"/>
                <a:cs typeface="Nirmala Text Semilight" panose="020B0402040204020203" pitchFamily="34" charset="0"/>
                <a:sym typeface="Bebas Neue"/>
              </a:rPr>
              <a:t>”HANDBAL PENTRU TOȚI”</a:t>
            </a:r>
          </a:p>
        </p:txBody>
      </p:sp>
      <p:sp>
        <p:nvSpPr>
          <p:cNvPr id="507" name="Google Shape;507;g371502a4ebc_4_24"/>
          <p:cNvSpPr txBox="1"/>
          <p:nvPr/>
        </p:nvSpPr>
        <p:spPr>
          <a:xfrm>
            <a:off x="6648519" y="5257603"/>
            <a:ext cx="5340275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lvl="0">
              <a:buClr>
                <a:schemeClr val="dk1"/>
              </a:buClr>
              <a:buSzPts val="825"/>
            </a:pPr>
            <a:r>
              <a:rPr lang="en-GB" sz="1400" dirty="0">
                <a:solidFill>
                  <a:schemeClr val="bg1"/>
                </a:solidFill>
              </a:rPr>
              <a:t>Cu </a:t>
            </a:r>
            <a:r>
              <a:rPr lang="en-GB" sz="1400" dirty="0" err="1">
                <a:solidFill>
                  <a:schemeClr val="bg1"/>
                </a:solidFill>
              </a:rPr>
              <a:t>sprijinul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dumneavoastră</a:t>
            </a:r>
            <a:r>
              <a:rPr lang="en-GB" sz="1400" dirty="0">
                <a:solidFill>
                  <a:schemeClr val="bg1"/>
                </a:solidFill>
              </a:rPr>
              <a:t>, ne </a:t>
            </a:r>
            <a:r>
              <a:rPr lang="en-GB" sz="1400" dirty="0" err="1">
                <a:solidFill>
                  <a:schemeClr val="bg1"/>
                </a:solidFill>
              </a:rPr>
              <a:t>propunem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să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formăm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generația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viitoare</a:t>
            </a:r>
            <a:r>
              <a:rPr lang="en-GB" sz="1400" dirty="0">
                <a:solidFill>
                  <a:schemeClr val="bg1"/>
                </a:solidFill>
              </a:rPr>
              <a:t> de </a:t>
            </a:r>
            <a:r>
              <a:rPr lang="en-GB" sz="1400" dirty="0" err="1">
                <a:solidFill>
                  <a:schemeClr val="bg1"/>
                </a:solidFill>
              </a:rPr>
              <a:t>talente</a:t>
            </a:r>
            <a:r>
              <a:rPr lang="en-GB" sz="1400" dirty="0">
                <a:solidFill>
                  <a:schemeClr val="bg1"/>
                </a:solidFill>
              </a:rPr>
              <a:t>. Prin </a:t>
            </a:r>
            <a:r>
              <a:rPr lang="en-GB" sz="1400" dirty="0" err="1">
                <a:solidFill>
                  <a:schemeClr val="bg1"/>
                </a:solidFill>
              </a:rPr>
              <a:t>acest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campionat</a:t>
            </a:r>
            <a:r>
              <a:rPr lang="en-GB" sz="1400" dirty="0">
                <a:solidFill>
                  <a:schemeClr val="bg1"/>
                </a:solidFill>
              </a:rPr>
              <a:t> de </a:t>
            </a:r>
            <a:r>
              <a:rPr lang="en-GB" sz="1400" dirty="0" err="1">
                <a:solidFill>
                  <a:schemeClr val="bg1"/>
                </a:solidFill>
              </a:rPr>
              <a:t>inițiere</a:t>
            </a:r>
            <a:r>
              <a:rPr lang="en-GB" sz="1400" dirty="0">
                <a:solidFill>
                  <a:schemeClr val="bg1"/>
                </a:solidFill>
              </a:rPr>
              <a:t>, </a:t>
            </a:r>
            <a:r>
              <a:rPr lang="en-GB" sz="1400" dirty="0" err="1">
                <a:solidFill>
                  <a:schemeClr val="bg1"/>
                </a:solidFill>
              </a:rPr>
              <a:t>fetițele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vor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dobândi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spiritul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competitiv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și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dorința</a:t>
            </a:r>
            <a:r>
              <a:rPr lang="en-GB" sz="1400" dirty="0">
                <a:solidFill>
                  <a:schemeClr val="bg1"/>
                </a:solidFill>
              </a:rPr>
              <a:t> de </a:t>
            </a:r>
            <a:r>
              <a:rPr lang="en-GB" sz="1400" dirty="0" err="1">
                <a:solidFill>
                  <a:schemeClr val="bg1"/>
                </a:solidFill>
              </a:rPr>
              <a:t>afirmare</a:t>
            </a:r>
            <a:r>
              <a:rPr lang="en-GB" sz="1400" dirty="0">
                <a:solidFill>
                  <a:schemeClr val="bg1"/>
                </a:solidFill>
              </a:rPr>
              <a:t>. Sub </a:t>
            </a:r>
            <a:r>
              <a:rPr lang="en-GB" sz="1400" dirty="0" err="1">
                <a:solidFill>
                  <a:schemeClr val="bg1"/>
                </a:solidFill>
              </a:rPr>
              <a:t>această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îndrumare</a:t>
            </a:r>
            <a:r>
              <a:rPr lang="en-GB" sz="1400" dirty="0">
                <a:solidFill>
                  <a:schemeClr val="bg1"/>
                </a:solidFill>
              </a:rPr>
              <a:t>, </a:t>
            </a:r>
            <a:r>
              <a:rPr lang="en-GB" sz="1400" dirty="0" err="1">
                <a:solidFill>
                  <a:schemeClr val="bg1"/>
                </a:solidFill>
              </a:rPr>
              <a:t>suntem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convinși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că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cei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aproximativ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ro-RO" sz="1400" dirty="0">
                <a:solidFill>
                  <a:schemeClr val="bg1"/>
                </a:solidFill>
              </a:rPr>
              <a:t>400</a:t>
            </a:r>
            <a:r>
              <a:rPr lang="en-GB" sz="1400" dirty="0">
                <a:solidFill>
                  <a:schemeClr val="bg1"/>
                </a:solidFill>
              </a:rPr>
              <a:t> de </a:t>
            </a:r>
            <a:r>
              <a:rPr lang="en-GB" sz="1400" dirty="0" err="1">
                <a:solidFill>
                  <a:schemeClr val="bg1"/>
                </a:solidFill>
              </a:rPr>
              <a:t>copii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vor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învăța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să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aprecieze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sportul</a:t>
            </a:r>
            <a:r>
              <a:rPr lang="en-GB" sz="1400" dirty="0">
                <a:solidFill>
                  <a:schemeClr val="bg1"/>
                </a:solidFill>
              </a:rPr>
              <a:t>, </a:t>
            </a:r>
            <a:r>
              <a:rPr lang="en-GB" sz="1400" dirty="0" err="1">
                <a:solidFill>
                  <a:schemeClr val="bg1"/>
                </a:solidFill>
              </a:rPr>
              <a:t>iar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dintre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ei</a:t>
            </a:r>
            <a:r>
              <a:rPr lang="en-GB" sz="1400" dirty="0">
                <a:solidFill>
                  <a:schemeClr val="bg1"/>
                </a:solidFill>
              </a:rPr>
              <a:t>, </a:t>
            </a:r>
            <a:r>
              <a:rPr lang="en-GB" sz="1400" dirty="0" err="1">
                <a:solidFill>
                  <a:schemeClr val="bg1"/>
                </a:solidFill>
              </a:rPr>
              <a:t>câțiva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vor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demonstra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calitățile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necesare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pentru</a:t>
            </a:r>
            <a:r>
              <a:rPr lang="en-GB" sz="1400" dirty="0">
                <a:solidFill>
                  <a:schemeClr val="bg1"/>
                </a:solidFill>
              </a:rPr>
              <a:t> a </a:t>
            </a:r>
            <a:r>
              <a:rPr lang="en-GB" sz="1400" dirty="0" err="1">
                <a:solidFill>
                  <a:schemeClr val="bg1"/>
                </a:solidFill>
              </a:rPr>
              <a:t>deveni</a:t>
            </a:r>
            <a:r>
              <a:rPr lang="en-GB" sz="1400" dirty="0">
                <a:solidFill>
                  <a:schemeClr val="bg1"/>
                </a:solidFill>
              </a:rPr>
              <a:t> sportive de </a:t>
            </a:r>
            <a:r>
              <a:rPr lang="en-GB" sz="1400" dirty="0" err="1">
                <a:solidFill>
                  <a:schemeClr val="bg1"/>
                </a:solidFill>
              </a:rPr>
              <a:t>performanță</a:t>
            </a:r>
            <a:endParaRPr sz="1400" dirty="0">
              <a:solidFill>
                <a:schemeClr val="bg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g371502a4ebc_4_24"/>
          <p:cNvSpPr txBox="1"/>
          <p:nvPr/>
        </p:nvSpPr>
        <p:spPr>
          <a:xfrm>
            <a:off x="816895" y="1687645"/>
            <a:ext cx="5130299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Clr>
                <a:schemeClr val="dk1"/>
              </a:buClr>
              <a:buSzPts val="825"/>
            </a:pP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A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asigura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sustenabilitatea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performanței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pe termen lung,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investim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crearea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unei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baze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solide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de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selecție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la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nivel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local.</a:t>
            </a:r>
            <a:endParaRPr lang="ro-RO" sz="14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>
              <a:buClr>
                <a:schemeClr val="dk1"/>
              </a:buClr>
              <a:buSzPts val="825"/>
            </a:pPr>
            <a:endParaRPr lang="ro-RO" sz="14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>
              <a:buClr>
                <a:schemeClr val="dk1"/>
              </a:buClr>
              <a:buSzPts val="825"/>
            </a:pP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Acest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obiectiv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vizează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:</a:t>
            </a:r>
            <a:endParaRPr sz="14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>
              <a:buClr>
                <a:schemeClr val="dk1"/>
              </a:buClr>
              <a:buSzPts val="825"/>
            </a:pP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Identificarea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tinerelor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talente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din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județul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Brăila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prin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organizarea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de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competiții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selecții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la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nivel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de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școli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comunități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.</a:t>
            </a:r>
            <a:endParaRPr sz="14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>
              <a:buClr>
                <a:schemeClr val="dk1"/>
              </a:buClr>
              <a:buSzPts val="825"/>
            </a:pPr>
            <a:endParaRPr lang="ro-RO" sz="14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>
              <a:buClr>
                <a:schemeClr val="dk1"/>
              </a:buClr>
              <a:buSzPts val="825"/>
            </a:pP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Dezvoltarea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unei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structuri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piramidale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pentru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copii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juniori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, care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să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includă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:</a:t>
            </a:r>
            <a:endParaRPr sz="14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228594" indent="-228594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Inițierea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copiilor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handbal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începând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cu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vârste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fragede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.</a:t>
            </a:r>
            <a:endParaRPr sz="14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228594" lvl="1" indent="-228594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Formarea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juniorilor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prin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antrenamente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bine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structurate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competiții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locale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regionale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.</a:t>
            </a:r>
            <a:endParaRPr sz="14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228594" indent="-228594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Pregătirea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pentru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performanță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prin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includerea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echipele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de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tineret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integrarea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lor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treptată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în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echipa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mare.</a:t>
            </a:r>
            <a:endParaRPr sz="14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  <a:p>
            <a:pPr marL="228594" indent="-228594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Crearea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unei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academii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de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handbal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Dunărea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Brăila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, care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să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devină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un pol de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excelență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pentru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tinerii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sportivi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din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județ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și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GB" sz="1400" dirty="0" err="1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regiune</a:t>
            </a:r>
            <a:r>
              <a:rPr lang="en-GB" sz="1400" dirty="0">
                <a:solidFill>
                  <a:schemeClr val="lt1"/>
                </a:solidFill>
                <a:latin typeface="+mj-lt"/>
                <a:ea typeface="Roboto"/>
                <a:cs typeface="Roboto"/>
                <a:sym typeface="Roboto"/>
              </a:rPr>
              <a:t>.</a:t>
            </a:r>
            <a:endParaRPr sz="1400" dirty="0">
              <a:solidFill>
                <a:schemeClr val="lt1"/>
              </a:solidFill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g371502a4ebc_4_24"/>
          <p:cNvSpPr txBox="1"/>
          <p:nvPr/>
        </p:nvSpPr>
        <p:spPr>
          <a:xfrm>
            <a:off x="816894" y="716203"/>
            <a:ext cx="4764332" cy="913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2667" dirty="0">
                <a:solidFill>
                  <a:schemeClr val="lt1"/>
                </a:solidFill>
                <a:latin typeface="Montserrat Medium" panose="00000600000000000000" pitchFamily="50" charset="0"/>
                <a:ea typeface="Nirmala Text Semilight" panose="020B0402040204020203" pitchFamily="34" charset="0"/>
                <a:cs typeface="Nirmala Text Semilight" panose="020B0402040204020203" pitchFamily="34" charset="0"/>
                <a:sym typeface="Bebas Neue"/>
              </a:rPr>
              <a:t>CONSTRUIREA BAZEI </a:t>
            </a:r>
          </a:p>
          <a:p>
            <a:r>
              <a:rPr lang="en-GB" sz="2667" dirty="0">
                <a:solidFill>
                  <a:schemeClr val="lt1"/>
                </a:solidFill>
                <a:latin typeface="Montserrat Medium" panose="00000600000000000000" pitchFamily="50" charset="0"/>
                <a:ea typeface="Nirmala Text Semilight" panose="020B0402040204020203" pitchFamily="34" charset="0"/>
                <a:cs typeface="Nirmala Text Semilight" panose="020B0402040204020203" pitchFamily="34" charset="0"/>
                <a:sym typeface="Bebas Neue"/>
              </a:rPr>
              <a:t>DE TALENTE DIN BRĂILA</a:t>
            </a: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2F3E4BD2-995F-8748-74AA-8FEC02A6159F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196</Words>
  <Application>Microsoft Office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Montserrat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2025-11-04T07:39:43Z</dcterms:created>
  <dcterms:modified xsi:type="dcterms:W3CDTF">2025-11-04T07:42:43Z</dcterms:modified>
</cp:coreProperties>
</file>