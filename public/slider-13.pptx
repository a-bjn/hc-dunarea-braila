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88966A-C003-45E1-BCF8-B9FA818968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6440C-51C8-48E3-A643-D2D9DEDD5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13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71502a4ebc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7" name="Google Shape;287;g371502a4eb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>
            <a:spLocks noGrp="1"/>
          </p:cNvSpPr>
          <p:nvPr>
            <p:ph type="pic" idx="2"/>
          </p:nvPr>
        </p:nvSpPr>
        <p:spPr>
          <a:xfrm>
            <a:off x="5500913" y="-1"/>
            <a:ext cx="6691200" cy="685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0357075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DBFC98-D379-455B-AB00-CEBF0EAA0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94B76-6643-41D4-AD41-E454824D9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77CCF-38E7-48BC-A54B-0867D98B3A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08DC3-CE73-41A7-9121-DB3A5AE6484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ECF20-7963-4FE0-92BD-CEF9DC66F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10385-B81D-4B9E-A9B9-1090AA2C4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B7494-15BF-47AD-B9F2-C2A750B83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8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pn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Relationship Type="http://schemas.openxmlformats.org/officeDocument/2006/relationships/image" Target="/ppt/media/image2.jpg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E2AE04-596A-029A-4B85-194C01C616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893509" cy="68580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91" name="Google Shape;291;g371502a4ebc_0_28"/>
          <p:cNvSpPr txBox="1"/>
          <p:nvPr/>
        </p:nvSpPr>
        <p:spPr>
          <a:xfrm>
            <a:off x="528849" y="450153"/>
            <a:ext cx="4805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3600" i="1" dirty="0">
                <a:solidFill>
                  <a:srgbClr val="2E3A90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REȚELE SOCIALE</a:t>
            </a:r>
            <a:endParaRPr sz="3600" i="1" dirty="0">
              <a:solidFill>
                <a:srgbClr val="2E3A90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295" name="Google Shape;295;g371502a4ebc_0_28"/>
          <p:cNvSpPr txBox="1"/>
          <p:nvPr/>
        </p:nvSpPr>
        <p:spPr>
          <a:xfrm>
            <a:off x="2636993" y="3066150"/>
            <a:ext cx="2109843" cy="4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La </a:t>
            </a:r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începutul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sezonului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Septembrie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2023)</a:t>
            </a:r>
            <a:endParaRPr sz="1067" dirty="0">
              <a:solidFill>
                <a:schemeClr val="tx1">
                  <a:lumMod val="75000"/>
                  <a:lumOff val="2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g371502a4ebc_0_28"/>
          <p:cNvSpPr txBox="1"/>
          <p:nvPr/>
        </p:nvSpPr>
        <p:spPr>
          <a:xfrm>
            <a:off x="528849" y="5364545"/>
            <a:ext cx="2030905" cy="72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lnSpc>
                <a:spcPct val="80000"/>
              </a:lnSpc>
            </a:pPr>
            <a:r>
              <a:rPr lang="en-GB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2</a:t>
            </a:r>
            <a:r>
              <a:rPr lang="ro-RO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5</a:t>
            </a:r>
            <a:r>
              <a:rPr lang="en-GB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.</a:t>
            </a:r>
            <a:r>
              <a:rPr lang="ro-RO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000</a:t>
            </a:r>
            <a:r>
              <a:rPr lang="en-GB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 </a:t>
            </a:r>
            <a:r>
              <a:rPr lang="en-GB" sz="1100" dirty="0" err="1">
                <a:solidFill>
                  <a:srgbClr val="2E3A90"/>
                </a:solidFill>
                <a:latin typeface="Montserrat ExtraBold" pitchFamily="2" charset="0"/>
                <a:ea typeface="Roboto Medium"/>
                <a:cs typeface="Roboto Medium"/>
                <a:sym typeface="Roboto Medium"/>
              </a:rPr>
              <a:t>urmăritori</a:t>
            </a:r>
            <a:endParaRPr sz="1100" dirty="0">
              <a:solidFill>
                <a:srgbClr val="2E3A90"/>
              </a:solidFill>
              <a:latin typeface="Montserrat ExtraBold" pitchFamily="2" charset="0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98" name="Google Shape;298;g371502a4ebc_0_28"/>
          <p:cNvSpPr txBox="1"/>
          <p:nvPr/>
        </p:nvSpPr>
        <p:spPr>
          <a:xfrm>
            <a:off x="2636993" y="5493946"/>
            <a:ext cx="1093600" cy="4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Septembrie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2025</a:t>
            </a:r>
            <a:endParaRPr sz="1067" dirty="0">
              <a:solidFill>
                <a:schemeClr val="tx1">
                  <a:lumMod val="75000"/>
                  <a:lumOff val="2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g371502a4ebc_0_28"/>
          <p:cNvSpPr txBox="1"/>
          <p:nvPr/>
        </p:nvSpPr>
        <p:spPr>
          <a:xfrm>
            <a:off x="532455" y="4133160"/>
            <a:ext cx="186660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+5</a:t>
            </a:r>
            <a:r>
              <a:rPr lang="ro-RO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6</a:t>
            </a:r>
            <a:r>
              <a:rPr lang="en-GB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%</a:t>
            </a:r>
            <a:endParaRPr sz="4000" dirty="0">
              <a:solidFill>
                <a:srgbClr val="2E3A90"/>
              </a:solidFill>
              <a:latin typeface="Montserrat ExtraBold" pitchFamily="2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302" name="Google Shape;302;g371502a4ebc_0_28"/>
          <p:cNvSpPr txBox="1"/>
          <p:nvPr/>
        </p:nvSpPr>
        <p:spPr>
          <a:xfrm>
            <a:off x="2636993" y="4235698"/>
            <a:ext cx="1249600" cy="4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Creștere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lang="ro-RO" sz="1067" dirty="0">
              <a:solidFill>
                <a:schemeClr val="tx1">
                  <a:lumMod val="75000"/>
                  <a:lumOff val="2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  <a:p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procentuală</a:t>
            </a:r>
            <a:endParaRPr sz="1067" dirty="0">
              <a:solidFill>
                <a:schemeClr val="tx1">
                  <a:lumMod val="75000"/>
                  <a:lumOff val="2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4A4742-ECAA-8CBB-3BCA-172EB0439826}"/>
              </a:ext>
            </a:extLst>
          </p:cNvPr>
          <p:cNvGrpSpPr/>
          <p:nvPr/>
        </p:nvGrpSpPr>
        <p:grpSpPr>
          <a:xfrm>
            <a:off x="2619813" y="1581744"/>
            <a:ext cx="4041328" cy="735510"/>
            <a:chOff x="1464757" y="1132590"/>
            <a:chExt cx="3030996" cy="551633"/>
          </a:xfrm>
        </p:grpSpPr>
        <p:sp>
          <p:nvSpPr>
            <p:cNvPr id="292" name="Google Shape;292;g371502a4ebc_0_28"/>
            <p:cNvSpPr txBox="1"/>
            <p:nvPr/>
          </p:nvSpPr>
          <p:spPr>
            <a:xfrm>
              <a:off x="1467553" y="1132590"/>
              <a:ext cx="3028200" cy="253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067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Creșterea</a:t>
              </a:r>
              <a:r>
                <a:rPr lang="en-GB" sz="1067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GB" sz="1067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comunității</a:t>
              </a:r>
              <a:endParaRPr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  <p:sp>
          <p:nvSpPr>
            <p:cNvPr id="303" name="Google Shape;303;g371502a4ebc_0_28"/>
            <p:cNvSpPr txBox="1"/>
            <p:nvPr/>
          </p:nvSpPr>
          <p:spPr>
            <a:xfrm>
              <a:off x="1464757" y="1307178"/>
              <a:ext cx="2861400" cy="3770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r>
                <a:rPr lang="en-GB" sz="2667" i="1" dirty="0">
                  <a:solidFill>
                    <a:srgbClr val="2E3A90"/>
                  </a:solidFill>
                  <a:latin typeface="Montserrat ExtraBold" panose="00000900000000000000" pitchFamily="50" charset="0"/>
                  <a:ea typeface="Bebas Neue"/>
                  <a:cs typeface="Bebas Neue"/>
                  <a:sym typeface="Bebas Neue"/>
                </a:rPr>
                <a:t>FACEBOOK</a:t>
              </a:r>
              <a:endParaRPr sz="2667" i="1" dirty="0">
                <a:solidFill>
                  <a:srgbClr val="2E3A90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endParaRPr>
            </a:p>
          </p:txBody>
        </p:sp>
      </p:grpSp>
      <p:sp>
        <p:nvSpPr>
          <p:cNvPr id="304" name="Google Shape;304;g371502a4ebc_0_28"/>
          <p:cNvSpPr txBox="1"/>
          <p:nvPr/>
        </p:nvSpPr>
        <p:spPr>
          <a:xfrm>
            <a:off x="534908" y="3018863"/>
            <a:ext cx="2049755" cy="72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ro-RO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16</a:t>
            </a:r>
            <a:r>
              <a:rPr lang="en-GB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.000</a:t>
            </a:r>
            <a:r>
              <a:rPr lang="en-GB" sz="4000" dirty="0">
                <a:solidFill>
                  <a:srgbClr val="2E3A90"/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  <a:r>
              <a:rPr lang="en-GB" sz="1100" dirty="0" err="1">
                <a:solidFill>
                  <a:srgbClr val="2E3A90"/>
                </a:solidFill>
                <a:latin typeface="Montserrat ExtraBold" pitchFamily="2" charset="0"/>
                <a:ea typeface="Roboto Medium"/>
                <a:cs typeface="Roboto Medium"/>
                <a:sym typeface="Roboto Medium"/>
              </a:rPr>
              <a:t>urmăritori</a:t>
            </a:r>
            <a:endParaRPr sz="1100" dirty="0">
              <a:solidFill>
                <a:srgbClr val="2E3A9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6" name="Picture 5" descr="A qr code with blue squares and circles&#10;&#10;AI-generated content may be incorrect.">
            <a:extLst>
              <a:ext uri="{FF2B5EF4-FFF2-40B4-BE49-F238E27FC236}">
                <a16:creationId xmlns:a16="http://schemas.microsoft.com/office/drawing/2014/main" id="{4B897129-E896-7FB1-415D-94BF11BDB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48" y="1222340"/>
            <a:ext cx="1464085" cy="14640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C845D9-3623-4860-BEFF-2AD9DC26E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138" y="0"/>
            <a:ext cx="5588863" cy="6858000"/>
          </a:xfrm>
          <a:prstGeom prst="rect">
            <a:avLst/>
          </a:prstGeom>
        </p:spPr>
      </p:pic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EEC34E5D-3F6A-2500-7159-BE9188F9483A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Bebas Neue</vt:lpstr>
      <vt:lpstr>Calibri</vt:lpstr>
      <vt:lpstr>Calibri Light</vt:lpstr>
      <vt:lpstr>Montserrat ExtraBold</vt:lpstr>
      <vt:lpstr>Roboto</vt:lpstr>
      <vt:lpstr>Roboto Black</vt:lpstr>
      <vt:lpstr>Roboto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2025-11-04T07:36:44Z</dcterms:created>
  <dcterms:modified xsi:type="dcterms:W3CDTF">2025-11-04T07:41:33Z</dcterms:modified>
</cp:coreProperties>
</file>