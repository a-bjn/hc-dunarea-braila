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20A52-4C39-45FA-94A5-7CB89B42E29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86744-A014-443C-9E93-8AE236A07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1502a4ebc_5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1502a4ebc_5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71502a4ebc_5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82857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DB0B2-F5ED-42D3-B8E8-5AF695097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BB318-DA14-4B4F-87E0-F63706A8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866CD-9065-44AF-9210-5D6C5065E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8D1F9-FF36-4B88-9965-799B79ADECB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F699F-D8E4-4357-A903-60AEC1D4C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CF349-1DBA-4A54-B60A-BC86B08CF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E57BD-7449-4F85-BAF5-0BA417E9A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0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CCEFAF-5F5F-46C5-A88C-67D2AF0C4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1" name="Google Shape;141;g371502a4ebc_5_47"/>
          <p:cNvSpPr txBox="1"/>
          <p:nvPr/>
        </p:nvSpPr>
        <p:spPr>
          <a:xfrm>
            <a:off x="460739" y="4491434"/>
            <a:ext cx="5745725" cy="2300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825"/>
            </a:pP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1.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Echipa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senioare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(Liga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Națională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)</a:t>
            </a:r>
          </a:p>
          <a:p>
            <a:pPr marL="457189" indent="-298442">
              <a:lnSpc>
                <a:spcPct val="115000"/>
              </a:lnSpc>
              <a:spcBef>
                <a:spcPts val="800"/>
              </a:spcBef>
              <a:buClr>
                <a:schemeClr val="bg1"/>
              </a:buClr>
              <a:buSzPts val="825"/>
              <a:buFont typeface="Roboto"/>
              <a:buChar char="●"/>
            </a:pP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~ 22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jucătoare</a:t>
            </a:r>
            <a:endParaRPr lang="en-GB" sz="12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98442">
              <a:lnSpc>
                <a:spcPct val="115000"/>
              </a:lnSpc>
              <a:spcBef>
                <a:spcPts val="800"/>
              </a:spcBef>
              <a:buClr>
                <a:schemeClr val="bg1"/>
              </a:buClr>
              <a:buSzPts val="825"/>
              <a:buFont typeface="Roboto"/>
              <a:buChar char="●"/>
            </a:pPr>
            <a:r>
              <a:rPr lang="it-IT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~ 6–8 membri staff tehnic (antrenori, preparatori, medici, maseuri etc.)</a:t>
            </a: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825"/>
            </a:pP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2.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Echipa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tin</a:t>
            </a:r>
            <a:r>
              <a:rPr lang="ro-RO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e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ret</a:t>
            </a:r>
            <a:endParaRPr sz="1200" b="1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98442">
              <a:lnSpc>
                <a:spcPct val="115000"/>
              </a:lnSpc>
              <a:spcBef>
                <a:spcPts val="800"/>
              </a:spcBef>
              <a:buClr>
                <a:schemeClr val="bg1"/>
              </a:buClr>
              <a:buSzPts val="825"/>
              <a:buFont typeface="Roboto"/>
              <a:buChar char="●"/>
            </a:pP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~ 20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jucătoare</a:t>
            </a:r>
            <a:endParaRPr sz="12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98442">
              <a:lnSpc>
                <a:spcPct val="115000"/>
              </a:lnSpc>
              <a:spcBef>
                <a:spcPts val="800"/>
              </a:spcBef>
              <a:buClr>
                <a:schemeClr val="bg1"/>
              </a:buClr>
              <a:buSzPts val="825"/>
              <a:buFont typeface="Roboto"/>
              <a:buChar char="●"/>
            </a:pP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~ 3–5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antrenori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+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coordonatori</a:t>
            </a:r>
            <a:endParaRPr sz="12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spcBef>
                <a:spcPts val="1200"/>
              </a:spcBef>
            </a:pPr>
            <a:endParaRPr sz="1067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71502a4ebc_5_47"/>
          <p:cNvSpPr txBox="1"/>
          <p:nvPr/>
        </p:nvSpPr>
        <p:spPr>
          <a:xfrm>
            <a:off x="6824489" y="4835632"/>
            <a:ext cx="5090935" cy="161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825"/>
            </a:pP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3. Academia /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Centrul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copii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juniori</a:t>
            </a:r>
            <a:endParaRPr sz="1200" b="1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98442">
              <a:lnSpc>
                <a:spcPct val="115000"/>
              </a:lnSpc>
              <a:spcBef>
                <a:spcPts val="800"/>
              </a:spcBef>
              <a:buClr>
                <a:schemeClr val="bg1"/>
              </a:buClr>
              <a:buSzPts val="825"/>
              <a:buFont typeface="Roboto"/>
              <a:buChar char="●"/>
            </a:pP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~ 400 de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copii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implicați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(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potrivit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proiectului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„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Handbal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Toți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”)</a:t>
            </a:r>
            <a:endParaRPr sz="12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189" indent="-298442">
              <a:lnSpc>
                <a:spcPct val="115000"/>
              </a:lnSpc>
              <a:spcBef>
                <a:spcPts val="800"/>
              </a:spcBef>
              <a:buClr>
                <a:schemeClr val="bg1"/>
              </a:buClr>
              <a:buSzPts val="825"/>
              <a:buFont typeface="Roboto"/>
              <a:buChar char="●"/>
            </a:pP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~ 10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antrenori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colaboratori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locali</a:t>
            </a:r>
            <a:endParaRPr sz="12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spcBef>
                <a:spcPts val="800"/>
              </a:spcBef>
              <a:buClr>
                <a:schemeClr val="dk1"/>
              </a:buClr>
              <a:buSzPts val="825"/>
            </a:pP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4. Staff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administrativ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ea typeface="Roboto"/>
                <a:cs typeface="Roboto"/>
                <a:sym typeface="Roboto"/>
              </a:rPr>
              <a:t>conducere</a:t>
            </a:r>
            <a:endParaRPr lang="fr-FR" sz="1200" b="1" dirty="0">
              <a:solidFill>
                <a:srgbClr val="2E3A90"/>
              </a:solidFill>
              <a:ea typeface="Roboto"/>
              <a:cs typeface="Roboto"/>
              <a:sym typeface="Roboto"/>
            </a:endParaRPr>
          </a:p>
          <a:p>
            <a:pPr marL="457189" indent="-298442">
              <a:spcBef>
                <a:spcPts val="800"/>
              </a:spcBef>
              <a:buClr>
                <a:schemeClr val="bg1"/>
              </a:buClr>
              <a:buSzPts val="825"/>
              <a:buFont typeface="Roboto"/>
              <a:buChar char="●"/>
            </a:pPr>
            <a:r>
              <a:rPr lang="fr-FR" sz="1200" dirty="0">
                <a:solidFill>
                  <a:schemeClr val="bg1"/>
                </a:solidFill>
                <a:ea typeface="Roboto"/>
                <a:cs typeface="Roboto"/>
                <a:sym typeface="Roboto"/>
              </a:rPr>
              <a:t>~ 6 </a:t>
            </a:r>
            <a:r>
              <a:rPr lang="fr-FR" sz="1200" dirty="0" err="1">
                <a:solidFill>
                  <a:schemeClr val="bg1"/>
                </a:solidFill>
                <a:ea typeface="Roboto"/>
                <a:cs typeface="Roboto"/>
                <a:sym typeface="Roboto"/>
              </a:rPr>
              <a:t>persoane</a:t>
            </a:r>
            <a:r>
              <a:rPr lang="fr-FR" sz="1200" dirty="0">
                <a:solidFill>
                  <a:schemeClr val="bg1"/>
                </a:solidFill>
                <a:ea typeface="Roboto"/>
                <a:cs typeface="Roboto"/>
                <a:sym typeface="Roboto"/>
              </a:rPr>
              <a:t> (management, PR, </a:t>
            </a:r>
            <a:r>
              <a:rPr lang="fr-FR" sz="1200" dirty="0" err="1">
                <a:solidFill>
                  <a:schemeClr val="bg1"/>
                </a:solidFill>
                <a:ea typeface="Roboto"/>
                <a:cs typeface="Roboto"/>
                <a:sym typeface="Roboto"/>
              </a:rPr>
              <a:t>logistică</a:t>
            </a:r>
            <a:r>
              <a:rPr lang="fr-FR" sz="1200" dirty="0">
                <a:solidFill>
                  <a:schemeClr val="bg1"/>
                </a:solidFill>
                <a:ea typeface="Roboto"/>
                <a:cs typeface="Roboto"/>
                <a:sym typeface="Roboto"/>
              </a:rPr>
              <a:t>, </a:t>
            </a:r>
            <a:r>
              <a:rPr lang="fr-FR" sz="1200" dirty="0" err="1">
                <a:solidFill>
                  <a:schemeClr val="bg1"/>
                </a:solidFill>
                <a:ea typeface="Roboto"/>
                <a:cs typeface="Roboto"/>
                <a:sym typeface="Roboto"/>
              </a:rPr>
              <a:t>contabilitate</a:t>
            </a:r>
            <a:r>
              <a:rPr lang="fr-FR" sz="1200" dirty="0">
                <a:solidFill>
                  <a:schemeClr val="bg1"/>
                </a:solidFill>
                <a:ea typeface="Roboto"/>
                <a:cs typeface="Roboto"/>
                <a:sym typeface="Roboto"/>
              </a:rPr>
              <a:t> etc.)</a:t>
            </a:r>
            <a:endParaRPr lang="fr-FR" sz="1067" dirty="0">
              <a:solidFill>
                <a:schemeClr val="bg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g371502a4ebc_5_47"/>
          <p:cNvSpPr txBox="1"/>
          <p:nvPr/>
        </p:nvSpPr>
        <p:spPr>
          <a:xfrm>
            <a:off x="399779" y="3101623"/>
            <a:ext cx="308848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Numărul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exact de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membri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ai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Clubului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Handbal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Dunărea</a:t>
            </a:r>
            <a:r>
              <a:rPr lang="en-GB" sz="1200" b="1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b="1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Brăila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poate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varia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funcție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sezon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structura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internă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(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jucătoare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staff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tehnic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administrativ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copii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din </a:t>
            </a:r>
            <a:r>
              <a:rPr lang="en-GB" sz="1200" dirty="0" err="1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academie</a:t>
            </a:r>
            <a:r>
              <a:rPr lang="en-GB" sz="1200" dirty="0">
                <a:solidFill>
                  <a:schemeClr val="bg1"/>
                </a:solidFill>
                <a:latin typeface="+mj-lt"/>
                <a:ea typeface="Roboto"/>
                <a:cs typeface="Roboto"/>
                <a:sym typeface="Roboto"/>
              </a:rPr>
              <a:t> etc.).</a:t>
            </a:r>
            <a:endParaRPr sz="1067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131808DA-8ACE-5C28-24C8-EE815C4A0017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123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2025-11-04T07:35:42Z</dcterms:created>
  <dcterms:modified xsi:type="dcterms:W3CDTF">2025-11-04T07:41:14Z</dcterms:modified>
</cp:coreProperties>
</file>